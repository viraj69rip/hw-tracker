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embeddedFontLst>
    <p:embeddedFont>
      <p:font typeface="Instrument Sans Medium" panose="020B0604020202020204" charset="0"/>
      <p:regular r:id="rId18"/>
    </p:embeddedFont>
    <p:embeddedFont>
      <p:font typeface="Instrument Sans Semi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14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33477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questions encourage deeper engagement with the text and historical context.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DEEEFF"/>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11.svg"/><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4.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6.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543550" y="0"/>
            <a:ext cx="3600450" cy="5143500"/>
          </a:xfrm>
          <a:prstGeom prst="rect">
            <a:avLst/>
          </a:prstGeom>
          <a:solidFill>
            <a:srgbClr val="CEE6FD"/>
          </a:solidFill>
          <a:ln/>
        </p:spPr>
      </p:sp>
      <p:pic>
        <p:nvPicPr>
          <p:cNvPr id="3" name="Image 0" descr="preencoded.png"/>
          <p:cNvPicPr>
            <a:picLocks noChangeAspect="1"/>
          </p:cNvPicPr>
          <p:nvPr/>
        </p:nvPicPr>
        <p:blipFill>
          <a:blip r:embed="rId3"/>
          <a:stretch>
            <a:fillRect/>
          </a:stretch>
        </p:blipFill>
        <p:spPr>
          <a:xfrm>
            <a:off x="5975300" y="500583"/>
            <a:ext cx="3106638" cy="4142259"/>
          </a:xfrm>
          <a:prstGeom prst="rect">
            <a:avLst/>
          </a:prstGeom>
        </p:spPr>
      </p:pic>
      <p:sp>
        <p:nvSpPr>
          <p:cNvPr id="4" name="Text 1"/>
          <p:cNvSpPr/>
          <p:nvPr/>
        </p:nvSpPr>
        <p:spPr>
          <a:xfrm>
            <a:off x="496119" y="1764878"/>
            <a:ext cx="4722763" cy="775097"/>
          </a:xfrm>
          <a:prstGeom prst="rect">
            <a:avLst/>
          </a:prstGeom>
          <a:noFill/>
          <a:ln/>
        </p:spPr>
        <p:txBody>
          <a:bodyPr wrap="squar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African History: A Long Walk to Freedom</a:t>
            </a:r>
            <a:endParaRPr lang="en-US" sz="2400" dirty="0"/>
          </a:p>
        </p:txBody>
      </p:sp>
      <p:sp>
        <p:nvSpPr>
          <p:cNvPr id="5" name="Text 2"/>
          <p:cNvSpPr/>
          <p:nvPr/>
        </p:nvSpPr>
        <p:spPr>
          <a:xfrm>
            <a:off x="496119" y="2589535"/>
            <a:ext cx="4145161" cy="193849"/>
          </a:xfrm>
          <a:prstGeom prst="rect">
            <a:avLst/>
          </a:prstGeom>
          <a:noFill/>
          <a:ln/>
        </p:spPr>
        <p:txBody>
          <a:bodyPr wrap="none" lIns="0" tIns="0" rIns="0" bIns="0" rtlCol="0" anchor="t"/>
          <a:lstStyle/>
          <a:p>
            <a:pPr marL="0" indent="0" algn="l">
              <a:lnSpc>
                <a:spcPts val="1500"/>
              </a:lnSpc>
              <a:buNone/>
            </a:pPr>
            <a:r>
              <a:rPr lang="en-US" sz="1200" dirty="0">
                <a:solidFill>
                  <a:srgbClr val="091C53"/>
                </a:solidFill>
                <a:latin typeface="Instrument Sans Semi Bold" pitchFamily="34" charset="0"/>
                <a:ea typeface="Instrument Sans Semi Bold" pitchFamily="34" charset="-122"/>
                <a:cs typeface="Instrument Sans Semi Bold" pitchFamily="34" charset="-120"/>
              </a:rPr>
              <a:t>Political Emancipation and the Legacy of Nelson Mandela</a:t>
            </a:r>
            <a:endParaRPr lang="en-US" sz="1200" dirty="0"/>
          </a:p>
        </p:txBody>
      </p:sp>
      <p:sp>
        <p:nvSpPr>
          <p:cNvPr id="6" name="Shape 3"/>
          <p:cNvSpPr/>
          <p:nvPr/>
        </p:nvSpPr>
        <p:spPr>
          <a:xfrm>
            <a:off x="496119" y="3000375"/>
            <a:ext cx="4722763" cy="9302"/>
          </a:xfrm>
          <a:prstGeom prst="rect">
            <a:avLst/>
          </a:prstGeom>
          <a:solidFill>
            <a:srgbClr val="1E3063">
              <a:alpha val="50000"/>
            </a:srgbClr>
          </a:solidFill>
          <a:ln/>
        </p:spPr>
      </p:sp>
      <p:sp>
        <p:nvSpPr>
          <p:cNvPr id="7" name="Text 4"/>
          <p:cNvSpPr/>
          <p:nvPr/>
        </p:nvSpPr>
        <p:spPr>
          <a:xfrm>
            <a:off x="496119" y="3180159"/>
            <a:ext cx="4722763" cy="198462"/>
          </a:xfrm>
          <a:prstGeom prst="rect">
            <a:avLst/>
          </a:prstGeom>
          <a:noFill/>
          <a:ln/>
        </p:spPr>
        <p:txBody>
          <a:bodyPr wrap="none" lIns="0" tIns="0" rIns="0" bIns="0" rtlCol="0" anchor="t"/>
          <a:lstStyle/>
          <a:p>
            <a:pPr marL="0" indent="0" algn="l">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Presented by:</a:t>
            </a:r>
            <a:r>
              <a:rPr lang="en-US" sz="950" dirty="0">
                <a:solidFill>
                  <a:srgbClr val="1E3063"/>
                </a:solidFill>
                <a:latin typeface="Instrument Sans Medium" pitchFamily="34" charset="0"/>
                <a:ea typeface="Instrument Sans Medium" pitchFamily="34" charset="-122"/>
                <a:cs typeface="Instrument Sans Medium" pitchFamily="34" charset="-120"/>
              </a:rPr>
              <a:t> Viraj Chavan  |  Class: 10th B  |  Subject: English</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3600450" cy="5143500"/>
          </a:xfrm>
          <a:prstGeom prst="rect">
            <a:avLst/>
          </a:prstGeom>
          <a:solidFill>
            <a:srgbClr val="CEE6FD"/>
          </a:solidFill>
          <a:ln/>
        </p:spPr>
      </p:sp>
      <p:pic>
        <p:nvPicPr>
          <p:cNvPr id="3" name="Image 0" descr="preencoded.png"/>
          <p:cNvPicPr>
            <a:picLocks noChangeAspect="1"/>
          </p:cNvPicPr>
          <p:nvPr/>
        </p:nvPicPr>
        <p:blipFill>
          <a:blip r:embed="rId3"/>
          <a:stretch>
            <a:fillRect/>
          </a:stretch>
        </p:blipFill>
        <p:spPr>
          <a:xfrm>
            <a:off x="62061" y="500583"/>
            <a:ext cx="3106638" cy="4142259"/>
          </a:xfrm>
          <a:prstGeom prst="rect">
            <a:avLst/>
          </a:prstGeom>
        </p:spPr>
      </p:pic>
      <p:sp>
        <p:nvSpPr>
          <p:cNvPr id="4" name="Shape 1"/>
          <p:cNvSpPr/>
          <p:nvPr/>
        </p:nvSpPr>
        <p:spPr>
          <a:xfrm>
            <a:off x="3925119" y="503262"/>
            <a:ext cx="908596" cy="233214"/>
          </a:xfrm>
          <a:prstGeom prst="roundRect">
            <a:avLst>
              <a:gd name="adj" fmla="val 38297"/>
            </a:avLst>
          </a:prstGeom>
          <a:solidFill>
            <a:srgbClr val="CEE6FD"/>
          </a:solidFill>
          <a:ln/>
        </p:spPr>
      </p:sp>
      <p:sp>
        <p:nvSpPr>
          <p:cNvPr id="5" name="Text 2"/>
          <p:cNvSpPr/>
          <p:nvPr/>
        </p:nvSpPr>
        <p:spPr>
          <a:xfrm>
            <a:off x="3999533" y="540469"/>
            <a:ext cx="759768" cy="158800"/>
          </a:xfrm>
          <a:prstGeom prst="rect">
            <a:avLst/>
          </a:prstGeom>
          <a:noFill/>
          <a:ln/>
        </p:spPr>
        <p:txBody>
          <a:bodyPr wrap="none" lIns="0" tIns="0" rIns="0" bIns="0" rtlCol="0" anchor="t"/>
          <a:lstStyle/>
          <a:p>
            <a:pPr marL="0" indent="0" algn="l">
              <a:lnSpc>
                <a:spcPts val="12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INTRODUCTION</a:t>
            </a:r>
            <a:endParaRPr lang="en-US" sz="750" dirty="0"/>
          </a:p>
        </p:txBody>
      </p:sp>
      <p:sp>
        <p:nvSpPr>
          <p:cNvPr id="6" name="Text 3"/>
          <p:cNvSpPr/>
          <p:nvPr/>
        </p:nvSpPr>
        <p:spPr>
          <a:xfrm>
            <a:off x="3925119" y="786036"/>
            <a:ext cx="3914552"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The Dawn of Emancipation</a:t>
            </a:r>
            <a:endParaRPr lang="en-US" sz="2400" dirty="0"/>
          </a:p>
        </p:txBody>
      </p:sp>
      <p:sp>
        <p:nvSpPr>
          <p:cNvPr id="7" name="Text 4"/>
          <p:cNvSpPr/>
          <p:nvPr/>
        </p:nvSpPr>
        <p:spPr>
          <a:xfrm>
            <a:off x="3925119" y="1359619"/>
            <a:ext cx="4722763"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In the mid-20th century, Africa was a continent in turmoil — colonized, divided, and suppressed under foreign rule for centuries. </a:t>
            </a:r>
            <a:r>
              <a:rPr lang="en-US" sz="950" b="1" dirty="0">
                <a:solidFill>
                  <a:srgbClr val="1E3063"/>
                </a:solidFill>
                <a:latin typeface="Instrument Sans Medium" pitchFamily="34" charset="0"/>
                <a:ea typeface="Instrument Sans Medium" pitchFamily="34" charset="-122"/>
                <a:cs typeface="Instrument Sans Medium" pitchFamily="34" charset="-120"/>
              </a:rPr>
              <a:t>Political emancipation</a:t>
            </a:r>
            <a:r>
              <a:rPr lang="en-US" sz="950" dirty="0">
                <a:solidFill>
                  <a:srgbClr val="1E3063"/>
                </a:solidFill>
                <a:latin typeface="Instrument Sans Medium" pitchFamily="34" charset="0"/>
                <a:ea typeface="Instrument Sans Medium" pitchFamily="34" charset="-122"/>
                <a:cs typeface="Instrument Sans Medium" pitchFamily="34" charset="-120"/>
              </a:rPr>
              <a:t> refers to the hard-fought process by which African nations gained independence and established their own sovereign governments.</a:t>
            </a:r>
            <a:endParaRPr lang="en-US" sz="950" dirty="0"/>
          </a:p>
        </p:txBody>
      </p:sp>
      <p:sp>
        <p:nvSpPr>
          <p:cNvPr id="8" name="Shape 5"/>
          <p:cNvSpPr/>
          <p:nvPr/>
        </p:nvSpPr>
        <p:spPr>
          <a:xfrm>
            <a:off x="3925119" y="2292995"/>
            <a:ext cx="2299395" cy="1310060"/>
          </a:xfrm>
          <a:prstGeom prst="roundRect">
            <a:avLst>
              <a:gd name="adj" fmla="val 8522"/>
            </a:avLst>
          </a:prstGeom>
          <a:solidFill>
            <a:srgbClr val="CEE6FD"/>
          </a:solidFill>
          <a:ln/>
        </p:spPr>
      </p:sp>
      <p:sp>
        <p:nvSpPr>
          <p:cNvPr id="9" name="Text 6"/>
          <p:cNvSpPr/>
          <p:nvPr/>
        </p:nvSpPr>
        <p:spPr>
          <a:xfrm>
            <a:off x="4049092" y="2416969"/>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Colonial Africa</a:t>
            </a:r>
            <a:endParaRPr lang="en-US" sz="1200" dirty="0"/>
          </a:p>
        </p:txBody>
      </p:sp>
      <p:sp>
        <p:nvSpPr>
          <p:cNvPr id="10" name="Text 7"/>
          <p:cNvSpPr/>
          <p:nvPr/>
        </p:nvSpPr>
        <p:spPr>
          <a:xfrm>
            <a:off x="4049092" y="2685231"/>
            <a:ext cx="2051447"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By 1900, nearly 90% of Africa was under European control, with resources exploited and local cultures suppressed.</a:t>
            </a:r>
            <a:endParaRPr lang="en-US" sz="950" dirty="0"/>
          </a:p>
        </p:txBody>
      </p:sp>
      <p:sp>
        <p:nvSpPr>
          <p:cNvPr id="11" name="Shape 8"/>
          <p:cNvSpPr/>
          <p:nvPr/>
        </p:nvSpPr>
        <p:spPr>
          <a:xfrm>
            <a:off x="6348487" y="2292995"/>
            <a:ext cx="2299395" cy="1310060"/>
          </a:xfrm>
          <a:prstGeom prst="roundRect">
            <a:avLst>
              <a:gd name="adj" fmla="val 8522"/>
            </a:avLst>
          </a:prstGeom>
          <a:solidFill>
            <a:srgbClr val="CEE6FD"/>
          </a:solidFill>
          <a:ln/>
        </p:spPr>
      </p:sp>
      <p:sp>
        <p:nvSpPr>
          <p:cNvPr id="12" name="Text 9"/>
          <p:cNvSpPr/>
          <p:nvPr/>
        </p:nvSpPr>
        <p:spPr>
          <a:xfrm>
            <a:off x="6472461" y="2416969"/>
            <a:ext cx="1628329"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The Fight for Freedom</a:t>
            </a:r>
            <a:endParaRPr lang="en-US" sz="1200" dirty="0"/>
          </a:p>
        </p:txBody>
      </p:sp>
      <p:sp>
        <p:nvSpPr>
          <p:cNvPr id="13" name="Text 10"/>
          <p:cNvSpPr/>
          <p:nvPr/>
        </p:nvSpPr>
        <p:spPr>
          <a:xfrm>
            <a:off x="6472461" y="2685231"/>
            <a:ext cx="2051447"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Nationalist movements rose across the continent, demanding self-rule, dignity, and the right to govern their own lands.</a:t>
            </a:r>
            <a:endParaRPr lang="en-US" sz="950" dirty="0"/>
          </a:p>
        </p:txBody>
      </p:sp>
      <p:sp>
        <p:nvSpPr>
          <p:cNvPr id="14" name="Shape 11"/>
          <p:cNvSpPr/>
          <p:nvPr/>
        </p:nvSpPr>
        <p:spPr>
          <a:xfrm>
            <a:off x="3925119" y="3727028"/>
            <a:ext cx="4722763" cy="913135"/>
          </a:xfrm>
          <a:prstGeom prst="roundRect">
            <a:avLst>
              <a:gd name="adj" fmla="val 12226"/>
            </a:avLst>
          </a:prstGeom>
          <a:solidFill>
            <a:srgbClr val="CEE6FD"/>
          </a:solidFill>
          <a:ln/>
        </p:spPr>
      </p:sp>
      <p:sp>
        <p:nvSpPr>
          <p:cNvPr id="15" name="Text 12"/>
          <p:cNvSpPr/>
          <p:nvPr/>
        </p:nvSpPr>
        <p:spPr>
          <a:xfrm>
            <a:off x="4049092" y="385100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Nelson Mandela</a:t>
            </a:r>
            <a:endParaRPr lang="en-US" sz="1200" dirty="0"/>
          </a:p>
        </p:txBody>
      </p:sp>
      <p:sp>
        <p:nvSpPr>
          <p:cNvPr id="16" name="Text 13"/>
          <p:cNvSpPr/>
          <p:nvPr/>
        </p:nvSpPr>
        <p:spPr>
          <a:xfrm>
            <a:off x="4049092" y="4119265"/>
            <a:ext cx="4474815"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His life and struggle became the most powerful symbol of this continental fight for equality, justice, and liberation.</a:t>
            </a:r>
            <a:endParaRPr lang="en-US" sz="950" dirty="0"/>
          </a:p>
        </p:txBody>
      </p:sp>
      <p:pic>
        <p:nvPicPr>
          <p:cNvPr id="20" name="Picture 19">
            <a:extLst>
              <a:ext uri="{FF2B5EF4-FFF2-40B4-BE49-F238E27FC236}">
                <a16:creationId xmlns:a16="http://schemas.microsoft.com/office/drawing/2014/main" id="{D048AA15-9706-FFA1-8C23-EF6E753BAEF2}"/>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1056605" y="267667"/>
            <a:ext cx="488677" cy="151507"/>
          </a:xfrm>
          <a:prstGeom prst="roundRect">
            <a:avLst>
              <a:gd name="adj" fmla="val 42371"/>
            </a:avLst>
          </a:prstGeom>
          <a:solidFill>
            <a:srgbClr val="CEE6FD"/>
          </a:solidFill>
          <a:ln/>
        </p:spPr>
      </p:sp>
      <p:sp>
        <p:nvSpPr>
          <p:cNvPr id="3" name="Text 1"/>
          <p:cNvSpPr/>
          <p:nvPr/>
        </p:nvSpPr>
        <p:spPr>
          <a:xfrm>
            <a:off x="1110035" y="294382"/>
            <a:ext cx="381819" cy="98078"/>
          </a:xfrm>
          <a:prstGeom prst="rect">
            <a:avLst/>
          </a:prstGeom>
          <a:noFill/>
          <a:ln/>
        </p:spPr>
        <p:txBody>
          <a:bodyPr wrap="none" lIns="0" tIns="0" rIns="0" bIns="0" rtlCol="0" anchor="t"/>
          <a:lstStyle/>
          <a:p>
            <a:pPr marL="0" indent="0" algn="l">
              <a:lnSpc>
                <a:spcPts val="750"/>
              </a:lnSpc>
              <a:buNone/>
            </a:pPr>
            <a:r>
              <a:rPr lang="en-US" sz="550" dirty="0">
                <a:solidFill>
                  <a:srgbClr val="1E3063"/>
                </a:solidFill>
                <a:latin typeface="Instrument Sans Medium" pitchFamily="34" charset="0"/>
                <a:ea typeface="Instrument Sans Medium" pitchFamily="34" charset="-122"/>
                <a:cs typeface="Instrument Sans Medium" pitchFamily="34" charset="-120"/>
              </a:rPr>
              <a:t>CHAPTER 1</a:t>
            </a:r>
            <a:endParaRPr lang="en-US" sz="550" dirty="0"/>
          </a:p>
        </p:txBody>
      </p:sp>
      <p:sp>
        <p:nvSpPr>
          <p:cNvPr id="4" name="Text 2"/>
          <p:cNvSpPr/>
          <p:nvPr/>
        </p:nvSpPr>
        <p:spPr>
          <a:xfrm>
            <a:off x="1056605" y="444773"/>
            <a:ext cx="4238997" cy="278532"/>
          </a:xfrm>
          <a:prstGeom prst="rect">
            <a:avLst/>
          </a:prstGeom>
          <a:noFill/>
          <a:ln/>
        </p:spPr>
        <p:txBody>
          <a:bodyPr wrap="none" lIns="0" tIns="0" rIns="0" bIns="0" rtlCol="0" anchor="t"/>
          <a:lstStyle/>
          <a:p>
            <a:pPr marL="0" indent="0" algn="l">
              <a:lnSpc>
                <a:spcPts val="2150"/>
              </a:lnSpc>
              <a:buNone/>
            </a:pPr>
            <a:r>
              <a:rPr lang="en-US" sz="1750" dirty="0">
                <a:solidFill>
                  <a:srgbClr val="091C53"/>
                </a:solidFill>
                <a:latin typeface="Instrument Sans Semi Bold" pitchFamily="34" charset="0"/>
                <a:ea typeface="Instrument Sans Semi Bold" pitchFamily="34" charset="-122"/>
                <a:cs typeface="Instrument Sans Semi Bold" pitchFamily="34" charset="-120"/>
              </a:rPr>
              <a:t>The Seeds of Resistance: Early Struggles</a:t>
            </a:r>
            <a:endParaRPr lang="en-US" sz="1750" dirty="0"/>
          </a:p>
        </p:txBody>
      </p:sp>
      <p:sp>
        <p:nvSpPr>
          <p:cNvPr id="5" name="Text 3"/>
          <p:cNvSpPr/>
          <p:nvPr/>
        </p:nvSpPr>
        <p:spPr>
          <a:xfrm>
            <a:off x="1056605" y="883444"/>
            <a:ext cx="1732731" cy="139303"/>
          </a:xfrm>
          <a:prstGeom prst="rect">
            <a:avLst/>
          </a:prstGeom>
          <a:noFill/>
          <a:ln/>
        </p:spPr>
        <p:txBody>
          <a:bodyPr wrap="none" lIns="0" tIns="0" rIns="0" bIns="0" rtlCol="0" anchor="t"/>
          <a:lstStyle/>
          <a:p>
            <a:pPr marL="0" indent="0" algn="l">
              <a:lnSpc>
                <a:spcPts val="1050"/>
              </a:lnSpc>
              <a:buNone/>
            </a:pPr>
            <a:r>
              <a:rPr lang="en-US" sz="850" dirty="0">
                <a:solidFill>
                  <a:srgbClr val="091C53"/>
                </a:solidFill>
                <a:latin typeface="Instrument Sans Semi Bold" pitchFamily="34" charset="0"/>
                <a:ea typeface="Instrument Sans Semi Bold" pitchFamily="34" charset="-122"/>
                <a:cs typeface="Instrument Sans Semi Bold" pitchFamily="34" charset="-120"/>
              </a:rPr>
              <a:t>Colonialism's Devastating Impact</a:t>
            </a:r>
            <a:endParaRPr lang="en-US" sz="850" dirty="0"/>
          </a:p>
        </p:txBody>
      </p:sp>
      <p:sp>
        <p:nvSpPr>
          <p:cNvPr id="6" name="Text 4"/>
          <p:cNvSpPr/>
          <p:nvPr/>
        </p:nvSpPr>
        <p:spPr>
          <a:xfrm>
            <a:off x="1056605" y="1086817"/>
            <a:ext cx="3406601" cy="490240"/>
          </a:xfrm>
          <a:prstGeom prst="rect">
            <a:avLst/>
          </a:prstGeom>
          <a:noFill/>
          <a:ln/>
        </p:spPr>
        <p:txBody>
          <a:bodyPr wrap="square" lIns="0" tIns="0" rIns="0" bIns="0" rtlCol="0" anchor="t"/>
          <a:lstStyle/>
          <a:p>
            <a:pPr marL="0" indent="0" algn="l">
              <a:lnSpc>
                <a:spcPts val="950"/>
              </a:lnSpc>
              <a:buNone/>
            </a:pPr>
            <a:r>
              <a:rPr lang="en-US" sz="700" dirty="0">
                <a:solidFill>
                  <a:srgbClr val="1E3063"/>
                </a:solidFill>
                <a:latin typeface="Instrument Sans Medium" pitchFamily="34" charset="0"/>
                <a:ea typeface="Instrument Sans Medium" pitchFamily="34" charset="-122"/>
                <a:cs typeface="Instrument Sans Medium" pitchFamily="34" charset="-120"/>
              </a:rPr>
              <a:t>European powers carved Africa into artificial borders with no regard for ethnic or cultural boundaries. Indigenous peoples were stripped of land, resources, and identity. Forced labor, violence, and systemic oppression became the daily reality for millions across the continent.</a:t>
            </a:r>
            <a:endParaRPr lang="en-US" sz="700" dirty="0"/>
          </a:p>
        </p:txBody>
      </p:sp>
      <p:sp>
        <p:nvSpPr>
          <p:cNvPr id="7" name="Text 5"/>
          <p:cNvSpPr/>
          <p:nvPr/>
        </p:nvSpPr>
        <p:spPr>
          <a:xfrm>
            <a:off x="1056605" y="1641128"/>
            <a:ext cx="1226195" cy="139303"/>
          </a:xfrm>
          <a:prstGeom prst="rect">
            <a:avLst/>
          </a:prstGeom>
          <a:noFill/>
          <a:ln/>
        </p:spPr>
        <p:txBody>
          <a:bodyPr wrap="none" lIns="0" tIns="0" rIns="0" bIns="0" rtlCol="0" anchor="t"/>
          <a:lstStyle/>
          <a:p>
            <a:pPr marL="0" indent="0" algn="l">
              <a:lnSpc>
                <a:spcPts val="1050"/>
              </a:lnSpc>
              <a:buNone/>
            </a:pPr>
            <a:r>
              <a:rPr lang="en-US" sz="850" dirty="0">
                <a:solidFill>
                  <a:srgbClr val="091C53"/>
                </a:solidFill>
                <a:latin typeface="Instrument Sans Semi Bold" pitchFamily="34" charset="0"/>
                <a:ea typeface="Instrument Sans Semi Bold" pitchFamily="34" charset="-122"/>
                <a:cs typeface="Instrument Sans Semi Bold" pitchFamily="34" charset="-120"/>
              </a:rPr>
              <a:t>The Rise of Nationalism</a:t>
            </a:r>
            <a:endParaRPr lang="en-US" sz="850" dirty="0"/>
          </a:p>
        </p:txBody>
      </p:sp>
      <p:sp>
        <p:nvSpPr>
          <p:cNvPr id="8" name="Text 6"/>
          <p:cNvSpPr/>
          <p:nvPr/>
        </p:nvSpPr>
        <p:spPr>
          <a:xfrm>
            <a:off x="1056605" y="1844501"/>
            <a:ext cx="3406601" cy="490240"/>
          </a:xfrm>
          <a:prstGeom prst="rect">
            <a:avLst/>
          </a:prstGeom>
          <a:noFill/>
          <a:ln/>
        </p:spPr>
        <p:txBody>
          <a:bodyPr wrap="square" lIns="0" tIns="0" rIns="0" bIns="0" rtlCol="0" anchor="t"/>
          <a:lstStyle/>
          <a:p>
            <a:pPr marL="0" indent="0" algn="l">
              <a:lnSpc>
                <a:spcPts val="950"/>
              </a:lnSpc>
              <a:buNone/>
            </a:pPr>
            <a:r>
              <a:rPr lang="en-US" sz="700" dirty="0">
                <a:solidFill>
                  <a:srgbClr val="1E3063"/>
                </a:solidFill>
                <a:latin typeface="Instrument Sans Medium" pitchFamily="34" charset="0"/>
                <a:ea typeface="Instrument Sans Medium" pitchFamily="34" charset="-122"/>
                <a:cs typeface="Instrument Sans Medium" pitchFamily="34" charset="-120"/>
              </a:rPr>
              <a:t>Despite brutal suppression, African voices of resistance grew louder. Thinkers like </a:t>
            </a:r>
            <a:r>
              <a:rPr lang="en-US" sz="700" b="1" dirty="0">
                <a:solidFill>
                  <a:srgbClr val="1E3063"/>
                </a:solidFill>
                <a:latin typeface="Instrument Sans Medium" pitchFamily="34" charset="0"/>
                <a:ea typeface="Instrument Sans Medium" pitchFamily="34" charset="-122"/>
                <a:cs typeface="Instrument Sans Medium" pitchFamily="34" charset="-120"/>
              </a:rPr>
              <a:t>Kwame Nkrumah</a:t>
            </a:r>
            <a:r>
              <a:rPr lang="en-US" sz="700" dirty="0">
                <a:solidFill>
                  <a:srgbClr val="1E3063"/>
                </a:solidFill>
                <a:latin typeface="Instrument Sans Medium" pitchFamily="34" charset="0"/>
                <a:ea typeface="Instrument Sans Medium" pitchFamily="34" charset="-122"/>
                <a:cs typeface="Instrument Sans Medium" pitchFamily="34" charset="-120"/>
              </a:rPr>
              <a:t> of Ghana, </a:t>
            </a:r>
            <a:r>
              <a:rPr lang="en-US" sz="700" b="1" dirty="0">
                <a:solidFill>
                  <a:srgbClr val="1E3063"/>
                </a:solidFill>
                <a:latin typeface="Instrument Sans Medium" pitchFamily="34" charset="0"/>
                <a:ea typeface="Instrument Sans Medium" pitchFamily="34" charset="-122"/>
                <a:cs typeface="Instrument Sans Medium" pitchFamily="34" charset="-120"/>
              </a:rPr>
              <a:t>Jomo Kenyatta</a:t>
            </a:r>
            <a:r>
              <a:rPr lang="en-US" sz="700" dirty="0">
                <a:solidFill>
                  <a:srgbClr val="1E3063"/>
                </a:solidFill>
                <a:latin typeface="Instrument Sans Medium" pitchFamily="34" charset="0"/>
                <a:ea typeface="Instrument Sans Medium" pitchFamily="34" charset="-122"/>
                <a:cs typeface="Instrument Sans Medium" pitchFamily="34" charset="-120"/>
              </a:rPr>
              <a:t> of Kenya, and </a:t>
            </a:r>
            <a:r>
              <a:rPr lang="en-US" sz="700" b="1" dirty="0">
                <a:solidFill>
                  <a:srgbClr val="1E3063"/>
                </a:solidFill>
                <a:latin typeface="Instrument Sans Medium" pitchFamily="34" charset="0"/>
                <a:ea typeface="Instrument Sans Medium" pitchFamily="34" charset="-122"/>
                <a:cs typeface="Instrument Sans Medium" pitchFamily="34" charset="-120"/>
              </a:rPr>
              <a:t>Patrice Lumumba</a:t>
            </a:r>
            <a:r>
              <a:rPr lang="en-US" sz="700" dirty="0">
                <a:solidFill>
                  <a:srgbClr val="1E3063"/>
                </a:solidFill>
                <a:latin typeface="Instrument Sans Medium" pitchFamily="34" charset="0"/>
                <a:ea typeface="Instrument Sans Medium" pitchFamily="34" charset="-122"/>
                <a:cs typeface="Instrument Sans Medium" pitchFamily="34" charset="-120"/>
              </a:rPr>
              <a:t> of Congo inspired generations. They argued that Africans had the right to self-determination and that colonialism was morally indefensible.</a:t>
            </a:r>
            <a:endParaRPr lang="en-US" sz="700" dirty="0"/>
          </a:p>
        </p:txBody>
      </p:sp>
      <p:pic>
        <p:nvPicPr>
          <p:cNvPr id="9" name="Image 0" descr="preencoded.png"/>
          <p:cNvPicPr>
            <a:picLocks noChangeAspect="1"/>
          </p:cNvPicPr>
          <p:nvPr/>
        </p:nvPicPr>
        <p:blipFill>
          <a:blip r:embed="rId3"/>
          <a:stretch>
            <a:fillRect/>
          </a:stretch>
        </p:blipFill>
        <p:spPr>
          <a:xfrm>
            <a:off x="4685407" y="891406"/>
            <a:ext cx="3406601" cy="3406601"/>
          </a:xfrm>
          <a:prstGeom prst="rect">
            <a:avLst/>
          </a:prstGeom>
        </p:spPr>
      </p:pic>
      <p:sp>
        <p:nvSpPr>
          <p:cNvPr id="10" name="Shape 7"/>
          <p:cNvSpPr/>
          <p:nvPr/>
        </p:nvSpPr>
        <p:spPr>
          <a:xfrm>
            <a:off x="1056605" y="4442073"/>
            <a:ext cx="7030715" cy="433685"/>
          </a:xfrm>
          <a:prstGeom prst="roundRect">
            <a:avLst>
              <a:gd name="adj" fmla="val 18503"/>
            </a:avLst>
          </a:prstGeom>
          <a:solidFill>
            <a:srgbClr val="B6D6FC"/>
          </a:solidFill>
          <a:ln/>
        </p:spPr>
      </p:sp>
      <p:pic>
        <p:nvPicPr>
          <p:cNvPr id="11" name="Image 1" descr="preencoded.png"/>
          <p:cNvPicPr>
            <a:picLocks noChangeAspect="1"/>
          </p:cNvPicPr>
          <p:nvPr/>
        </p:nvPicPr>
        <p:blipFill>
          <a:blip r:embed="rId4"/>
          <a:stretch>
            <a:fillRect/>
          </a:stretch>
        </p:blipFill>
        <p:spPr>
          <a:xfrm>
            <a:off x="1145753" y="4565898"/>
            <a:ext cx="111398" cy="89148"/>
          </a:xfrm>
          <a:prstGeom prst="rect">
            <a:avLst/>
          </a:prstGeom>
        </p:spPr>
      </p:pic>
      <p:sp>
        <p:nvSpPr>
          <p:cNvPr id="12" name="Text 8"/>
          <p:cNvSpPr/>
          <p:nvPr/>
        </p:nvSpPr>
        <p:spPr>
          <a:xfrm>
            <a:off x="1346299" y="4528393"/>
            <a:ext cx="6651873" cy="245120"/>
          </a:xfrm>
          <a:prstGeom prst="rect">
            <a:avLst/>
          </a:prstGeom>
          <a:noFill/>
          <a:ln/>
        </p:spPr>
        <p:txBody>
          <a:bodyPr wrap="square" lIns="0" tIns="0" rIns="0" bIns="0" rtlCol="0" anchor="t"/>
          <a:lstStyle/>
          <a:p>
            <a:pPr marL="0" indent="0" algn="l">
              <a:lnSpc>
                <a:spcPts val="950"/>
              </a:lnSpc>
              <a:buNone/>
            </a:pPr>
            <a:r>
              <a:rPr lang="en-US" sz="700" b="1" dirty="0">
                <a:solidFill>
                  <a:srgbClr val="000000"/>
                </a:solidFill>
                <a:latin typeface="Instrument Sans Medium" pitchFamily="34" charset="0"/>
                <a:ea typeface="Instrument Sans Medium" pitchFamily="34" charset="-122"/>
                <a:cs typeface="Instrument Sans Medium" pitchFamily="34" charset="-120"/>
              </a:rPr>
              <a:t>Key Fact:</a:t>
            </a:r>
            <a:r>
              <a:rPr lang="en-US" sz="700" dirty="0">
                <a:solidFill>
                  <a:srgbClr val="000000"/>
                </a:solidFill>
                <a:latin typeface="Instrument Sans Medium" pitchFamily="34" charset="0"/>
                <a:ea typeface="Instrument Sans Medium" pitchFamily="34" charset="-122"/>
                <a:cs typeface="Instrument Sans Medium" pitchFamily="34" charset="-120"/>
              </a:rPr>
              <a:t> Between 1957 and 1975, over 30 African nations gained independence — a wave of liberation known as the "Year of Africa" in 1960 alone saw 17 nations break free.</a:t>
            </a:r>
            <a:endParaRPr lang="en-US" sz="700" dirty="0"/>
          </a:p>
        </p:txBody>
      </p:sp>
      <p:pic>
        <p:nvPicPr>
          <p:cNvPr id="14" name="Picture 13">
            <a:extLst>
              <a:ext uri="{FF2B5EF4-FFF2-40B4-BE49-F238E27FC236}">
                <a16:creationId xmlns:a16="http://schemas.microsoft.com/office/drawing/2014/main" id="{D32411E6-72D0-FCB1-2A8E-056365EE64F9}"/>
              </a:ext>
            </a:extLst>
          </p:cNvPr>
          <p:cNvPicPr>
            <a:picLocks noChangeAspect="1"/>
          </p:cNvPicPr>
          <p:nvPr/>
        </p:nvPicPr>
        <p:blipFill>
          <a:blip r:embed="rId5"/>
          <a:stretch>
            <a:fillRect/>
          </a:stretch>
        </p:blipFill>
        <p:spPr>
          <a:xfrm>
            <a:off x="7934631" y="4872864"/>
            <a:ext cx="1159105" cy="2553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3600450" cy="5143500"/>
          </a:xfrm>
          <a:prstGeom prst="rect">
            <a:avLst/>
          </a:prstGeom>
          <a:solidFill>
            <a:srgbClr val="CEE6FD"/>
          </a:solidFill>
          <a:ln/>
        </p:spPr>
      </p:sp>
      <p:pic>
        <p:nvPicPr>
          <p:cNvPr id="3" name="Image 0" descr="preencoded.png"/>
          <p:cNvPicPr>
            <a:picLocks noChangeAspect="1"/>
          </p:cNvPicPr>
          <p:nvPr/>
        </p:nvPicPr>
        <p:blipFill>
          <a:blip r:embed="rId3"/>
          <a:stretch>
            <a:fillRect/>
          </a:stretch>
        </p:blipFill>
        <p:spPr>
          <a:xfrm>
            <a:off x="55290" y="492100"/>
            <a:ext cx="3119363" cy="4159225"/>
          </a:xfrm>
          <a:prstGeom prst="rect">
            <a:avLst/>
          </a:prstGeom>
        </p:spPr>
      </p:pic>
      <p:sp>
        <p:nvSpPr>
          <p:cNvPr id="4" name="Shape 1"/>
          <p:cNvSpPr/>
          <p:nvPr/>
        </p:nvSpPr>
        <p:spPr>
          <a:xfrm>
            <a:off x="3870871" y="322064"/>
            <a:ext cx="619795" cy="199876"/>
          </a:xfrm>
          <a:prstGeom prst="roundRect">
            <a:avLst>
              <a:gd name="adj" fmla="val 39797"/>
            </a:avLst>
          </a:prstGeom>
          <a:solidFill>
            <a:srgbClr val="CEE6FD"/>
          </a:solidFill>
          <a:ln/>
        </p:spPr>
      </p:sp>
      <p:sp>
        <p:nvSpPr>
          <p:cNvPr id="5" name="Text 2"/>
          <p:cNvSpPr/>
          <p:nvPr/>
        </p:nvSpPr>
        <p:spPr>
          <a:xfrm>
            <a:off x="3937099" y="355178"/>
            <a:ext cx="487338" cy="133648"/>
          </a:xfrm>
          <a:prstGeom prst="rect">
            <a:avLst/>
          </a:prstGeom>
          <a:noFill/>
          <a:ln/>
        </p:spPr>
        <p:txBody>
          <a:bodyPr wrap="none" lIns="0" tIns="0" rIns="0" bIns="0" rtlCol="0" anchor="t"/>
          <a:lstStyle/>
          <a:p>
            <a:pPr marL="0" indent="0" algn="l">
              <a:lnSpc>
                <a:spcPts val="10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CHAPTER 2</a:t>
            </a:r>
            <a:endParaRPr lang="en-US" sz="650" dirty="0"/>
          </a:p>
        </p:txBody>
      </p:sp>
      <p:sp>
        <p:nvSpPr>
          <p:cNvPr id="6" name="Text 3"/>
          <p:cNvSpPr/>
          <p:nvPr/>
        </p:nvSpPr>
        <p:spPr>
          <a:xfrm>
            <a:off x="3870871" y="561231"/>
            <a:ext cx="4831259" cy="690562"/>
          </a:xfrm>
          <a:prstGeom prst="rect">
            <a:avLst/>
          </a:prstGeom>
          <a:noFill/>
          <a:ln/>
        </p:spPr>
        <p:txBody>
          <a:bodyPr wrap="square" lIns="0" tIns="0" rIns="0" bIns="0" rtlCol="0" anchor="t"/>
          <a:lstStyle/>
          <a:p>
            <a:pPr marL="0" indent="0" algn="l">
              <a:lnSpc>
                <a:spcPts val="2700"/>
              </a:lnSpc>
              <a:buNone/>
            </a:pPr>
            <a:r>
              <a:rPr lang="en-US" sz="2150" dirty="0">
                <a:solidFill>
                  <a:srgbClr val="091C53"/>
                </a:solidFill>
                <a:latin typeface="Instrument Sans Semi Bold" pitchFamily="34" charset="0"/>
                <a:ea typeface="Instrument Sans Semi Bold" pitchFamily="34" charset="-122"/>
                <a:cs typeface="Instrument Sans Semi Bold" pitchFamily="34" charset="-120"/>
              </a:rPr>
              <a:t>Apartheid's Grip: The South African Context</a:t>
            </a:r>
            <a:endParaRPr lang="en-US" sz="2150" dirty="0"/>
          </a:p>
        </p:txBody>
      </p:sp>
      <p:sp>
        <p:nvSpPr>
          <p:cNvPr id="7" name="Text 4"/>
          <p:cNvSpPr/>
          <p:nvPr/>
        </p:nvSpPr>
        <p:spPr>
          <a:xfrm>
            <a:off x="3870871" y="1399356"/>
            <a:ext cx="4831259" cy="668536"/>
          </a:xfrm>
          <a:prstGeom prst="rect">
            <a:avLst/>
          </a:prstGeom>
          <a:noFill/>
          <a:ln/>
        </p:spPr>
        <p:txBody>
          <a:bodyPr wrap="square" lIns="0" tIns="0" rIns="0" bIns="0" rtlCol="0" anchor="t"/>
          <a:lstStyle/>
          <a:p>
            <a:pPr marL="0" indent="0" algn="l">
              <a:lnSpc>
                <a:spcPts val="1300"/>
              </a:lnSpc>
              <a:buNone/>
            </a:pPr>
            <a:r>
              <a:rPr lang="en-US" sz="850" dirty="0">
                <a:solidFill>
                  <a:srgbClr val="1E3063"/>
                </a:solidFill>
                <a:latin typeface="Instrument Sans Medium" pitchFamily="34" charset="0"/>
                <a:ea typeface="Instrument Sans Medium" pitchFamily="34" charset="-122"/>
                <a:cs typeface="Instrument Sans Medium" pitchFamily="34" charset="-120"/>
              </a:rPr>
              <a:t>From </a:t>
            </a:r>
            <a:r>
              <a:rPr lang="en-US" sz="850" b="1" dirty="0">
                <a:solidFill>
                  <a:srgbClr val="1E3063"/>
                </a:solidFill>
                <a:latin typeface="Instrument Sans Medium" pitchFamily="34" charset="0"/>
                <a:ea typeface="Instrument Sans Medium" pitchFamily="34" charset="-122"/>
                <a:cs typeface="Instrument Sans Medium" pitchFamily="34" charset="-120"/>
              </a:rPr>
              <a:t>1948 to 1994</a:t>
            </a:r>
            <a:r>
              <a:rPr lang="en-US" sz="850" dirty="0">
                <a:solidFill>
                  <a:srgbClr val="1E3063"/>
                </a:solidFill>
                <a:latin typeface="Instrument Sans Medium" pitchFamily="34" charset="0"/>
                <a:ea typeface="Instrument Sans Medium" pitchFamily="34" charset="-122"/>
                <a:cs typeface="Instrument Sans Medium" pitchFamily="34" charset="-120"/>
              </a:rPr>
              <a:t>, South Africa was governed under </a:t>
            </a:r>
            <a:r>
              <a:rPr lang="en-US" sz="850" b="1" dirty="0">
                <a:solidFill>
                  <a:srgbClr val="1E3063"/>
                </a:solidFill>
                <a:latin typeface="Instrument Sans Medium" pitchFamily="34" charset="0"/>
                <a:ea typeface="Instrument Sans Medium" pitchFamily="34" charset="-122"/>
                <a:cs typeface="Instrument Sans Medium" pitchFamily="34" charset="-120"/>
              </a:rPr>
              <a:t>apartheid</a:t>
            </a:r>
            <a:r>
              <a:rPr lang="en-US" sz="850" dirty="0">
                <a:solidFill>
                  <a:srgbClr val="1E3063"/>
                </a:solidFill>
                <a:latin typeface="Instrument Sans Medium" pitchFamily="34" charset="0"/>
                <a:ea typeface="Instrument Sans Medium" pitchFamily="34" charset="-122"/>
                <a:cs typeface="Instrument Sans Medium" pitchFamily="34" charset="-120"/>
              </a:rPr>
              <a:t> — a brutal system of institutionalized racial segregation. The word means "apartness" in Afrikaans. Under apartheid, Black South Africans were stripped of citizenship, forced into impoverished "homelands," denied quality education, and subjected to humiliating daily discrimination.</a:t>
            </a:r>
            <a:endParaRPr lang="en-US" sz="850" dirty="0"/>
          </a:p>
        </p:txBody>
      </p:sp>
      <p:sp>
        <p:nvSpPr>
          <p:cNvPr id="8" name="Shape 5"/>
          <p:cNvSpPr/>
          <p:nvPr/>
        </p:nvSpPr>
        <p:spPr>
          <a:xfrm>
            <a:off x="3870871" y="2178546"/>
            <a:ext cx="4831259" cy="815355"/>
          </a:xfrm>
          <a:prstGeom prst="roundRect">
            <a:avLst>
              <a:gd name="adj" fmla="val 8411"/>
            </a:avLst>
          </a:prstGeom>
          <a:solidFill>
            <a:srgbClr val="FFFFFF"/>
          </a:solidFill>
          <a:ln w="14288">
            <a:solidFill>
              <a:srgbClr val="B4CCE3"/>
            </a:solidFill>
            <a:prstDash val="solid"/>
          </a:ln>
        </p:spPr>
      </p:sp>
      <p:sp>
        <p:nvSpPr>
          <p:cNvPr id="9" name="Shape 6"/>
          <p:cNvSpPr/>
          <p:nvPr/>
        </p:nvSpPr>
        <p:spPr>
          <a:xfrm>
            <a:off x="3856583" y="2178546"/>
            <a:ext cx="57150" cy="815355"/>
          </a:xfrm>
          <a:prstGeom prst="roundRect">
            <a:avLst>
              <a:gd name="adj" fmla="val 173983"/>
            </a:avLst>
          </a:prstGeom>
          <a:solidFill>
            <a:srgbClr val="84C1FA"/>
          </a:solidFill>
          <a:ln/>
        </p:spPr>
      </p:sp>
      <p:sp>
        <p:nvSpPr>
          <p:cNvPr id="10" name="Text 7"/>
          <p:cNvSpPr/>
          <p:nvPr/>
        </p:nvSpPr>
        <p:spPr>
          <a:xfrm>
            <a:off x="4038451" y="2303264"/>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1E3063"/>
                </a:solidFill>
                <a:latin typeface="Instrument Sans Semi Bold" pitchFamily="34" charset="0"/>
                <a:ea typeface="Instrument Sans Semi Bold" pitchFamily="34" charset="-122"/>
                <a:cs typeface="Instrument Sans Semi Bold" pitchFamily="34" charset="-120"/>
              </a:rPr>
              <a:t>Pass Laws</a:t>
            </a:r>
            <a:endParaRPr lang="en-US" sz="1050" dirty="0"/>
          </a:p>
        </p:txBody>
      </p:sp>
      <p:sp>
        <p:nvSpPr>
          <p:cNvPr id="11" name="Text 8"/>
          <p:cNvSpPr/>
          <p:nvPr/>
        </p:nvSpPr>
        <p:spPr>
          <a:xfrm>
            <a:off x="4038451" y="2534915"/>
            <a:ext cx="4538960" cy="334268"/>
          </a:xfrm>
          <a:prstGeom prst="rect">
            <a:avLst/>
          </a:prstGeom>
          <a:noFill/>
          <a:ln/>
        </p:spPr>
        <p:txBody>
          <a:bodyPr wrap="square" lIns="0" tIns="0" rIns="0" bIns="0" rtlCol="0" anchor="t"/>
          <a:lstStyle/>
          <a:p>
            <a:pPr marL="0" indent="0" algn="l">
              <a:lnSpc>
                <a:spcPts val="1300"/>
              </a:lnSpc>
              <a:buNone/>
            </a:pPr>
            <a:r>
              <a:rPr lang="en-US" sz="850" dirty="0">
                <a:solidFill>
                  <a:srgbClr val="1E3063"/>
                </a:solidFill>
                <a:latin typeface="Instrument Sans Medium" pitchFamily="34" charset="0"/>
                <a:ea typeface="Instrument Sans Medium" pitchFamily="34" charset="-122"/>
                <a:cs typeface="Instrument Sans Medium" pitchFamily="34" charset="-120"/>
              </a:rPr>
              <a:t>Black citizens were required to carry passbooks at all times, restricting their movement and confining them to designated areas.</a:t>
            </a:r>
            <a:endParaRPr lang="en-US" sz="850" dirty="0"/>
          </a:p>
        </p:txBody>
      </p:sp>
      <p:sp>
        <p:nvSpPr>
          <p:cNvPr id="12" name="Shape 9"/>
          <p:cNvSpPr/>
          <p:nvPr/>
        </p:nvSpPr>
        <p:spPr>
          <a:xfrm>
            <a:off x="3870871" y="3092276"/>
            <a:ext cx="4831259" cy="815355"/>
          </a:xfrm>
          <a:prstGeom prst="roundRect">
            <a:avLst>
              <a:gd name="adj" fmla="val 8411"/>
            </a:avLst>
          </a:prstGeom>
          <a:solidFill>
            <a:srgbClr val="FFFFFF"/>
          </a:solidFill>
          <a:ln w="14288">
            <a:solidFill>
              <a:srgbClr val="B4CCE3"/>
            </a:solidFill>
            <a:prstDash val="solid"/>
          </a:ln>
        </p:spPr>
      </p:sp>
      <p:sp>
        <p:nvSpPr>
          <p:cNvPr id="13" name="Shape 10"/>
          <p:cNvSpPr/>
          <p:nvPr/>
        </p:nvSpPr>
        <p:spPr>
          <a:xfrm>
            <a:off x="3856583" y="3092276"/>
            <a:ext cx="57150" cy="815355"/>
          </a:xfrm>
          <a:prstGeom prst="roundRect">
            <a:avLst>
              <a:gd name="adj" fmla="val 173983"/>
            </a:avLst>
          </a:prstGeom>
          <a:solidFill>
            <a:srgbClr val="84C1FA"/>
          </a:solidFill>
          <a:ln/>
        </p:spPr>
      </p:sp>
      <p:sp>
        <p:nvSpPr>
          <p:cNvPr id="14" name="Text 11"/>
          <p:cNvSpPr/>
          <p:nvPr/>
        </p:nvSpPr>
        <p:spPr>
          <a:xfrm>
            <a:off x="4038451" y="3216994"/>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1E3063"/>
                </a:solidFill>
                <a:latin typeface="Instrument Sans Semi Bold" pitchFamily="34" charset="0"/>
                <a:ea typeface="Instrument Sans Semi Bold" pitchFamily="34" charset="-122"/>
                <a:cs typeface="Instrument Sans Semi Bold" pitchFamily="34" charset="-120"/>
              </a:rPr>
              <a:t>Bantu Education</a:t>
            </a:r>
            <a:endParaRPr lang="en-US" sz="1050" dirty="0"/>
          </a:p>
        </p:txBody>
      </p:sp>
      <p:sp>
        <p:nvSpPr>
          <p:cNvPr id="15" name="Text 12"/>
          <p:cNvSpPr/>
          <p:nvPr/>
        </p:nvSpPr>
        <p:spPr>
          <a:xfrm>
            <a:off x="4038451" y="3448645"/>
            <a:ext cx="4538960" cy="334268"/>
          </a:xfrm>
          <a:prstGeom prst="rect">
            <a:avLst/>
          </a:prstGeom>
          <a:noFill/>
          <a:ln/>
        </p:spPr>
        <p:txBody>
          <a:bodyPr wrap="square" lIns="0" tIns="0" rIns="0" bIns="0" rtlCol="0" anchor="t"/>
          <a:lstStyle/>
          <a:p>
            <a:pPr marL="0" indent="0" algn="l">
              <a:lnSpc>
                <a:spcPts val="1300"/>
              </a:lnSpc>
              <a:buNone/>
            </a:pPr>
            <a:r>
              <a:rPr lang="en-US" sz="850" dirty="0">
                <a:solidFill>
                  <a:srgbClr val="1E3063"/>
                </a:solidFill>
                <a:latin typeface="Instrument Sans Medium" pitchFamily="34" charset="0"/>
                <a:ea typeface="Instrument Sans Medium" pitchFamily="34" charset="-122"/>
                <a:cs typeface="Instrument Sans Medium" pitchFamily="34" charset="-120"/>
              </a:rPr>
              <a:t>A deliberately inferior education system was designed to prepare Black South Africans only for menial labor, not leadership.</a:t>
            </a:r>
            <a:endParaRPr lang="en-US" sz="850" dirty="0"/>
          </a:p>
        </p:txBody>
      </p:sp>
      <p:sp>
        <p:nvSpPr>
          <p:cNvPr id="16" name="Shape 13"/>
          <p:cNvSpPr/>
          <p:nvPr/>
        </p:nvSpPr>
        <p:spPr>
          <a:xfrm>
            <a:off x="3870871" y="4006007"/>
            <a:ext cx="4831259" cy="815355"/>
          </a:xfrm>
          <a:prstGeom prst="roundRect">
            <a:avLst>
              <a:gd name="adj" fmla="val 8411"/>
            </a:avLst>
          </a:prstGeom>
          <a:solidFill>
            <a:srgbClr val="FFFFFF"/>
          </a:solidFill>
          <a:ln w="14288">
            <a:solidFill>
              <a:srgbClr val="B4CCE3"/>
            </a:solidFill>
            <a:prstDash val="solid"/>
          </a:ln>
        </p:spPr>
      </p:sp>
      <p:sp>
        <p:nvSpPr>
          <p:cNvPr id="17" name="Shape 14"/>
          <p:cNvSpPr/>
          <p:nvPr/>
        </p:nvSpPr>
        <p:spPr>
          <a:xfrm>
            <a:off x="3856583" y="4006007"/>
            <a:ext cx="57150" cy="815355"/>
          </a:xfrm>
          <a:prstGeom prst="roundRect">
            <a:avLst>
              <a:gd name="adj" fmla="val 173983"/>
            </a:avLst>
          </a:prstGeom>
          <a:solidFill>
            <a:srgbClr val="84C1FA"/>
          </a:solidFill>
          <a:ln/>
        </p:spPr>
      </p:sp>
      <p:sp>
        <p:nvSpPr>
          <p:cNvPr id="18" name="Text 15"/>
          <p:cNvSpPr/>
          <p:nvPr/>
        </p:nvSpPr>
        <p:spPr>
          <a:xfrm>
            <a:off x="4038451" y="4130725"/>
            <a:ext cx="1380976" cy="172641"/>
          </a:xfrm>
          <a:prstGeom prst="rect">
            <a:avLst/>
          </a:prstGeom>
          <a:noFill/>
          <a:ln/>
        </p:spPr>
        <p:txBody>
          <a:bodyPr wrap="none" lIns="0" tIns="0" rIns="0" bIns="0" rtlCol="0" anchor="t"/>
          <a:lstStyle/>
          <a:p>
            <a:pPr marL="0" indent="0" algn="l">
              <a:lnSpc>
                <a:spcPts val="1350"/>
              </a:lnSpc>
              <a:buNone/>
            </a:pPr>
            <a:r>
              <a:rPr lang="en-US" sz="1050" dirty="0">
                <a:solidFill>
                  <a:srgbClr val="1E3063"/>
                </a:solidFill>
                <a:latin typeface="Instrument Sans Semi Bold" pitchFamily="34" charset="0"/>
                <a:ea typeface="Instrument Sans Semi Bold" pitchFamily="34" charset="-122"/>
                <a:cs typeface="Instrument Sans Semi Bold" pitchFamily="34" charset="-120"/>
              </a:rPr>
              <a:t>Forced Removals</a:t>
            </a:r>
            <a:endParaRPr lang="en-US" sz="1050" dirty="0"/>
          </a:p>
        </p:txBody>
      </p:sp>
      <p:sp>
        <p:nvSpPr>
          <p:cNvPr id="19" name="Text 16"/>
          <p:cNvSpPr/>
          <p:nvPr/>
        </p:nvSpPr>
        <p:spPr>
          <a:xfrm>
            <a:off x="4038451" y="4362376"/>
            <a:ext cx="4538960" cy="334268"/>
          </a:xfrm>
          <a:prstGeom prst="rect">
            <a:avLst/>
          </a:prstGeom>
          <a:noFill/>
          <a:ln/>
        </p:spPr>
        <p:txBody>
          <a:bodyPr wrap="square" lIns="0" tIns="0" rIns="0" bIns="0" rtlCol="0" anchor="t"/>
          <a:lstStyle/>
          <a:p>
            <a:pPr marL="0" indent="0" algn="l">
              <a:lnSpc>
                <a:spcPts val="1300"/>
              </a:lnSpc>
              <a:buNone/>
            </a:pPr>
            <a:r>
              <a:rPr lang="en-US" sz="850" dirty="0">
                <a:solidFill>
                  <a:srgbClr val="1E3063"/>
                </a:solidFill>
                <a:latin typeface="Instrument Sans Medium" pitchFamily="34" charset="0"/>
                <a:ea typeface="Instrument Sans Medium" pitchFamily="34" charset="-122"/>
                <a:cs typeface="Instrument Sans Medium" pitchFamily="34" charset="-120"/>
              </a:rPr>
              <a:t>Millions of Black families were violently uprooted from their homes and relocated to barren, underdeveloped townships.</a:t>
            </a:r>
            <a:endParaRPr lang="en-US" sz="850" dirty="0"/>
          </a:p>
        </p:txBody>
      </p:sp>
      <p:pic>
        <p:nvPicPr>
          <p:cNvPr id="20" name="Picture 19">
            <a:extLst>
              <a:ext uri="{FF2B5EF4-FFF2-40B4-BE49-F238E27FC236}">
                <a16:creationId xmlns:a16="http://schemas.microsoft.com/office/drawing/2014/main" id="{56D2BEE0-61C8-1CB0-A128-3A3494AAE458}"/>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74489" y="279053"/>
            <a:ext cx="556692" cy="172938"/>
          </a:xfrm>
          <a:prstGeom prst="roundRect">
            <a:avLst>
              <a:gd name="adj" fmla="val 41154"/>
            </a:avLst>
          </a:prstGeom>
          <a:solidFill>
            <a:srgbClr val="CEE6FD"/>
          </a:solidFill>
          <a:ln/>
        </p:spPr>
      </p:sp>
      <p:sp>
        <p:nvSpPr>
          <p:cNvPr id="3" name="Text 1"/>
          <p:cNvSpPr/>
          <p:nvPr/>
        </p:nvSpPr>
        <p:spPr>
          <a:xfrm>
            <a:off x="733797" y="308670"/>
            <a:ext cx="438076" cy="113705"/>
          </a:xfrm>
          <a:prstGeom prst="rect">
            <a:avLst/>
          </a:prstGeom>
          <a:noFill/>
          <a:ln/>
        </p:spPr>
        <p:txBody>
          <a:bodyPr wrap="none" lIns="0" tIns="0" rIns="0" bIns="0" rtlCol="0" anchor="t"/>
          <a:lstStyle/>
          <a:p>
            <a:pPr marL="0" indent="0" algn="l">
              <a:lnSpc>
                <a:spcPts val="850"/>
              </a:lnSpc>
              <a:buNone/>
            </a:pPr>
            <a:r>
              <a:rPr lang="en-US" sz="600" dirty="0">
                <a:solidFill>
                  <a:srgbClr val="1E3063"/>
                </a:solidFill>
                <a:latin typeface="Instrument Sans Medium" pitchFamily="34" charset="0"/>
                <a:ea typeface="Instrument Sans Medium" pitchFamily="34" charset="-122"/>
                <a:cs typeface="Instrument Sans Medium" pitchFamily="34" charset="-120"/>
              </a:rPr>
              <a:t>CHAPTER 3</a:t>
            </a:r>
            <a:endParaRPr lang="en-US" sz="600" dirty="0"/>
          </a:p>
        </p:txBody>
      </p:sp>
      <p:sp>
        <p:nvSpPr>
          <p:cNvPr id="4" name="Text 2"/>
          <p:cNvSpPr/>
          <p:nvPr/>
        </p:nvSpPr>
        <p:spPr>
          <a:xfrm>
            <a:off x="674489" y="483468"/>
            <a:ext cx="4854922" cy="308893"/>
          </a:xfrm>
          <a:prstGeom prst="rect">
            <a:avLst/>
          </a:prstGeom>
          <a:noFill/>
          <a:ln/>
        </p:spPr>
        <p:txBody>
          <a:bodyPr wrap="none" lIns="0" tIns="0" rIns="0" bIns="0" rtlCol="0" anchor="t"/>
          <a:lstStyle/>
          <a:p>
            <a:pPr marL="0" indent="0" algn="l">
              <a:lnSpc>
                <a:spcPts val="240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Nelson Mandela: From Activist to Prisoner</a:t>
            </a:r>
            <a:endParaRPr lang="en-US" sz="1900" dirty="0"/>
          </a:p>
        </p:txBody>
      </p:sp>
      <p:pic>
        <p:nvPicPr>
          <p:cNvPr id="5" name="Image 0" descr="preencoded.png"/>
          <p:cNvPicPr>
            <a:picLocks noChangeAspect="1"/>
          </p:cNvPicPr>
          <p:nvPr/>
        </p:nvPicPr>
        <p:blipFill>
          <a:blip r:embed="rId3"/>
          <a:stretch>
            <a:fillRect/>
          </a:stretch>
        </p:blipFill>
        <p:spPr>
          <a:xfrm>
            <a:off x="674489" y="999009"/>
            <a:ext cx="3776886" cy="3776886"/>
          </a:xfrm>
          <a:prstGeom prst="rect">
            <a:avLst/>
          </a:prstGeom>
        </p:spPr>
      </p:pic>
      <p:sp>
        <p:nvSpPr>
          <p:cNvPr id="6" name="Text 3"/>
          <p:cNvSpPr/>
          <p:nvPr/>
        </p:nvSpPr>
        <p:spPr>
          <a:xfrm>
            <a:off x="4697239" y="989186"/>
            <a:ext cx="1259756" cy="154409"/>
          </a:xfrm>
          <a:prstGeom prst="rect">
            <a:avLst/>
          </a:prstGeom>
          <a:noFill/>
          <a:ln/>
        </p:spPr>
        <p:txBody>
          <a:bodyPr wrap="none" lIns="0" tIns="0" rIns="0" bIns="0" rtlCol="0" anchor="t"/>
          <a:lstStyle/>
          <a:p>
            <a:pPr marL="0" indent="0" algn="l">
              <a:lnSpc>
                <a:spcPts val="1200"/>
              </a:lnSpc>
              <a:buNone/>
            </a:pPr>
            <a:r>
              <a:rPr lang="en-US" sz="950" dirty="0">
                <a:solidFill>
                  <a:srgbClr val="091C53"/>
                </a:solidFill>
                <a:latin typeface="Instrument Sans Semi Bold" pitchFamily="34" charset="0"/>
                <a:ea typeface="Instrument Sans Semi Bold" pitchFamily="34" charset="-122"/>
                <a:cs typeface="Instrument Sans Semi Bold" pitchFamily="34" charset="-120"/>
              </a:rPr>
              <a:t>Early Life &amp; Education</a:t>
            </a:r>
            <a:endParaRPr lang="en-US" sz="950" dirty="0"/>
          </a:p>
        </p:txBody>
      </p:sp>
      <p:sp>
        <p:nvSpPr>
          <p:cNvPr id="7" name="Text 4"/>
          <p:cNvSpPr/>
          <p:nvPr/>
        </p:nvSpPr>
        <p:spPr>
          <a:xfrm>
            <a:off x="4697239" y="1222325"/>
            <a:ext cx="3776886" cy="426169"/>
          </a:xfrm>
          <a:prstGeom prst="rect">
            <a:avLst/>
          </a:prstGeom>
          <a:noFill/>
          <a:ln/>
        </p:spPr>
        <p:txBody>
          <a:bodyPr wrap="square" lIns="0" tIns="0" rIns="0" bIns="0" rtlCol="0" anchor="t"/>
          <a:lstStyle/>
          <a:p>
            <a:pPr marL="0" indent="0" algn="l">
              <a:lnSpc>
                <a:spcPts val="11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Born on </a:t>
            </a:r>
            <a:r>
              <a:rPr lang="en-US" sz="750" b="1" dirty="0">
                <a:solidFill>
                  <a:srgbClr val="1E3063"/>
                </a:solidFill>
                <a:latin typeface="Instrument Sans Medium" pitchFamily="34" charset="0"/>
                <a:ea typeface="Instrument Sans Medium" pitchFamily="34" charset="-122"/>
                <a:cs typeface="Instrument Sans Medium" pitchFamily="34" charset="-120"/>
              </a:rPr>
              <a:t>July 18, 1918</a:t>
            </a:r>
            <a:r>
              <a:rPr lang="en-US" sz="750" dirty="0">
                <a:solidFill>
                  <a:srgbClr val="1E3063"/>
                </a:solidFill>
                <a:latin typeface="Instrument Sans Medium" pitchFamily="34" charset="0"/>
                <a:ea typeface="Instrument Sans Medium" pitchFamily="34" charset="-122"/>
                <a:cs typeface="Instrument Sans Medium" pitchFamily="34" charset="-120"/>
              </a:rPr>
              <a:t>, in Mvezo, South Africa, Mandela was given the name </a:t>
            </a:r>
            <a:r>
              <a:rPr lang="en-US" sz="750" i="1" dirty="0">
                <a:solidFill>
                  <a:srgbClr val="1E3063"/>
                </a:solidFill>
                <a:latin typeface="Instrument Sans Medium" pitchFamily="34" charset="0"/>
                <a:ea typeface="Instrument Sans Medium" pitchFamily="34" charset="-122"/>
                <a:cs typeface="Instrument Sans Medium" pitchFamily="34" charset="-120"/>
              </a:rPr>
              <a:t>Rolihlahla</a:t>
            </a:r>
            <a:r>
              <a:rPr lang="en-US" sz="750" dirty="0">
                <a:solidFill>
                  <a:srgbClr val="1E3063"/>
                </a:solidFill>
                <a:latin typeface="Instrument Sans Medium" pitchFamily="34" charset="0"/>
                <a:ea typeface="Instrument Sans Medium" pitchFamily="34" charset="-122"/>
                <a:cs typeface="Instrument Sans Medium" pitchFamily="34" charset="-120"/>
              </a:rPr>
              <a:t> ("troublemaker"). He became the first in his family to attend school, later studying law at the University of Fort Hare and the University of Witwatersrand.</a:t>
            </a:r>
            <a:endParaRPr lang="en-US" sz="750" dirty="0"/>
          </a:p>
        </p:txBody>
      </p:sp>
      <p:sp>
        <p:nvSpPr>
          <p:cNvPr id="8" name="Text 5"/>
          <p:cNvSpPr/>
          <p:nvPr/>
        </p:nvSpPr>
        <p:spPr>
          <a:xfrm>
            <a:off x="4697239" y="1727225"/>
            <a:ext cx="1235571" cy="154409"/>
          </a:xfrm>
          <a:prstGeom prst="rect">
            <a:avLst/>
          </a:prstGeom>
          <a:noFill/>
          <a:ln/>
        </p:spPr>
        <p:txBody>
          <a:bodyPr wrap="none" lIns="0" tIns="0" rIns="0" bIns="0" rtlCol="0" anchor="t"/>
          <a:lstStyle/>
          <a:p>
            <a:pPr marL="0" indent="0" algn="l">
              <a:lnSpc>
                <a:spcPts val="1200"/>
              </a:lnSpc>
              <a:buNone/>
            </a:pPr>
            <a:r>
              <a:rPr lang="en-US" sz="950" dirty="0">
                <a:solidFill>
                  <a:srgbClr val="091C53"/>
                </a:solidFill>
                <a:latin typeface="Instrument Sans Semi Bold" pitchFamily="34" charset="0"/>
                <a:ea typeface="Instrument Sans Semi Bold" pitchFamily="34" charset="-122"/>
                <a:cs typeface="Instrument Sans Semi Bold" pitchFamily="34" charset="-120"/>
              </a:rPr>
              <a:t>Joining the ANC</a:t>
            </a:r>
            <a:endParaRPr lang="en-US" sz="950" dirty="0"/>
          </a:p>
        </p:txBody>
      </p:sp>
      <p:sp>
        <p:nvSpPr>
          <p:cNvPr id="9" name="Text 6"/>
          <p:cNvSpPr/>
          <p:nvPr/>
        </p:nvSpPr>
        <p:spPr>
          <a:xfrm>
            <a:off x="4697239" y="1960364"/>
            <a:ext cx="3776886" cy="426169"/>
          </a:xfrm>
          <a:prstGeom prst="rect">
            <a:avLst/>
          </a:prstGeom>
          <a:noFill/>
          <a:ln/>
        </p:spPr>
        <p:txBody>
          <a:bodyPr wrap="square" lIns="0" tIns="0" rIns="0" bIns="0" rtlCol="0" anchor="t"/>
          <a:lstStyle/>
          <a:p>
            <a:pPr marL="0" indent="0" algn="l">
              <a:lnSpc>
                <a:spcPts val="11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In </a:t>
            </a:r>
            <a:r>
              <a:rPr lang="en-US" sz="750" b="1" dirty="0">
                <a:solidFill>
                  <a:srgbClr val="1E3063"/>
                </a:solidFill>
                <a:latin typeface="Instrument Sans Medium" pitchFamily="34" charset="0"/>
                <a:ea typeface="Instrument Sans Medium" pitchFamily="34" charset="-122"/>
                <a:cs typeface="Instrument Sans Medium" pitchFamily="34" charset="-120"/>
              </a:rPr>
              <a:t>1944</a:t>
            </a:r>
            <a:r>
              <a:rPr lang="en-US" sz="750" dirty="0">
                <a:solidFill>
                  <a:srgbClr val="1E3063"/>
                </a:solidFill>
                <a:latin typeface="Instrument Sans Medium" pitchFamily="34" charset="0"/>
                <a:ea typeface="Instrument Sans Medium" pitchFamily="34" charset="-122"/>
                <a:cs typeface="Instrument Sans Medium" pitchFamily="34" charset="-120"/>
              </a:rPr>
              <a:t>, Mandela co-founded the ANC Youth League, committing himself to non-violent resistance. As apartheid hardened, he helped form </a:t>
            </a:r>
            <a:r>
              <a:rPr lang="en-US" sz="750" i="1" dirty="0">
                <a:solidFill>
                  <a:srgbClr val="1E3063"/>
                </a:solidFill>
                <a:latin typeface="Instrument Sans Medium" pitchFamily="34" charset="0"/>
                <a:ea typeface="Instrument Sans Medium" pitchFamily="34" charset="-122"/>
                <a:cs typeface="Instrument Sans Medium" pitchFamily="34" charset="-120"/>
              </a:rPr>
              <a:t>Umkhonto we Sizwe</a:t>
            </a:r>
            <a:r>
              <a:rPr lang="en-US" sz="750" dirty="0">
                <a:solidFill>
                  <a:srgbClr val="1E3063"/>
                </a:solidFill>
                <a:latin typeface="Instrument Sans Medium" pitchFamily="34" charset="0"/>
                <a:ea typeface="Instrument Sans Medium" pitchFamily="34" charset="-122"/>
                <a:cs typeface="Instrument Sans Medium" pitchFamily="34" charset="-120"/>
              </a:rPr>
              <a:t> ("Spear of the Nation"), the ANC's armed wing.</a:t>
            </a:r>
            <a:endParaRPr lang="en-US" sz="750" dirty="0"/>
          </a:p>
        </p:txBody>
      </p:sp>
      <p:sp>
        <p:nvSpPr>
          <p:cNvPr id="10" name="Text 7"/>
          <p:cNvSpPr/>
          <p:nvPr/>
        </p:nvSpPr>
        <p:spPr>
          <a:xfrm>
            <a:off x="4697239" y="2465263"/>
            <a:ext cx="1557486" cy="154409"/>
          </a:xfrm>
          <a:prstGeom prst="rect">
            <a:avLst/>
          </a:prstGeom>
          <a:noFill/>
          <a:ln/>
        </p:spPr>
        <p:txBody>
          <a:bodyPr wrap="none" lIns="0" tIns="0" rIns="0" bIns="0" rtlCol="0" anchor="t"/>
          <a:lstStyle/>
          <a:p>
            <a:pPr marL="0" indent="0" algn="l">
              <a:lnSpc>
                <a:spcPts val="1200"/>
              </a:lnSpc>
              <a:buNone/>
            </a:pPr>
            <a:r>
              <a:rPr lang="en-US" sz="950" dirty="0">
                <a:solidFill>
                  <a:srgbClr val="091C53"/>
                </a:solidFill>
                <a:latin typeface="Instrument Sans Semi Bold" pitchFamily="34" charset="0"/>
                <a:ea typeface="Instrument Sans Semi Bold" pitchFamily="34" charset="-122"/>
                <a:cs typeface="Instrument Sans Semi Bold" pitchFamily="34" charset="-120"/>
              </a:rPr>
              <a:t>The Rivonia Trial (1963–64)</a:t>
            </a:r>
            <a:endParaRPr lang="en-US" sz="950" dirty="0"/>
          </a:p>
        </p:txBody>
      </p:sp>
      <p:sp>
        <p:nvSpPr>
          <p:cNvPr id="11" name="Text 8"/>
          <p:cNvSpPr/>
          <p:nvPr/>
        </p:nvSpPr>
        <p:spPr>
          <a:xfrm>
            <a:off x="4697239" y="2698403"/>
            <a:ext cx="3776886" cy="568226"/>
          </a:xfrm>
          <a:prstGeom prst="rect">
            <a:avLst/>
          </a:prstGeom>
          <a:noFill/>
          <a:ln/>
        </p:spPr>
        <p:txBody>
          <a:bodyPr wrap="square" lIns="0" tIns="0" rIns="0" bIns="0" rtlCol="0" anchor="t"/>
          <a:lstStyle/>
          <a:p>
            <a:pPr marL="0" indent="0" algn="l">
              <a:lnSpc>
                <a:spcPts val="11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Arrested and charged with sabotage and conspiracy, Mandela delivered a legendary speech from the dock: </a:t>
            </a:r>
            <a:r>
              <a:rPr lang="en-US" sz="750" i="1" dirty="0">
                <a:solidFill>
                  <a:srgbClr val="1E3063"/>
                </a:solidFill>
                <a:latin typeface="Instrument Sans Medium" pitchFamily="34" charset="0"/>
                <a:ea typeface="Instrument Sans Medium" pitchFamily="34" charset="-122"/>
                <a:cs typeface="Instrument Sans Medium" pitchFamily="34" charset="-120"/>
              </a:rPr>
              <a:t>"I have cherished the ideal of a democratic and free society… it is an ideal for which I am prepared to die."</a:t>
            </a:r>
            <a:r>
              <a:rPr lang="en-US" sz="750" dirty="0">
                <a:solidFill>
                  <a:srgbClr val="1E3063"/>
                </a:solidFill>
                <a:latin typeface="Instrument Sans Medium" pitchFamily="34" charset="0"/>
                <a:ea typeface="Instrument Sans Medium" pitchFamily="34" charset="-122"/>
                <a:cs typeface="Instrument Sans Medium" pitchFamily="34" charset="-120"/>
              </a:rPr>
              <a:t> He was sentenced to </a:t>
            </a:r>
            <a:r>
              <a:rPr lang="en-US" sz="750" b="1" dirty="0">
                <a:solidFill>
                  <a:srgbClr val="1E3063"/>
                </a:solidFill>
                <a:latin typeface="Instrument Sans Medium" pitchFamily="34" charset="0"/>
                <a:ea typeface="Instrument Sans Medium" pitchFamily="34" charset="-122"/>
                <a:cs typeface="Instrument Sans Medium" pitchFamily="34" charset="-120"/>
              </a:rPr>
              <a:t>life imprisonment</a:t>
            </a:r>
            <a:r>
              <a:rPr lang="en-US" sz="750" dirty="0">
                <a:solidFill>
                  <a:srgbClr val="1E3063"/>
                </a:solidFill>
                <a:latin typeface="Instrument Sans Medium" pitchFamily="34" charset="0"/>
                <a:ea typeface="Instrument Sans Medium" pitchFamily="34" charset="-122"/>
                <a:cs typeface="Instrument Sans Medium" pitchFamily="34" charset="-120"/>
              </a:rPr>
              <a:t>.</a:t>
            </a:r>
            <a:endParaRPr lang="en-US" sz="750" dirty="0"/>
          </a:p>
        </p:txBody>
      </p:sp>
      <p:pic>
        <p:nvPicPr>
          <p:cNvPr id="12" name="Picture 11">
            <a:extLst>
              <a:ext uri="{FF2B5EF4-FFF2-40B4-BE49-F238E27FC236}">
                <a16:creationId xmlns:a16="http://schemas.microsoft.com/office/drawing/2014/main" id="{226693AE-9284-CABA-0296-A91DB399647A}"/>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1245022"/>
            <a:ext cx="701650" cy="233214"/>
          </a:xfrm>
          <a:prstGeom prst="roundRect">
            <a:avLst>
              <a:gd name="adj" fmla="val 38297"/>
            </a:avLst>
          </a:prstGeom>
          <a:solidFill>
            <a:srgbClr val="CEE6FD"/>
          </a:solidFill>
          <a:ln/>
        </p:spPr>
      </p:sp>
      <p:sp>
        <p:nvSpPr>
          <p:cNvPr id="3" name="Text 1"/>
          <p:cNvSpPr/>
          <p:nvPr/>
        </p:nvSpPr>
        <p:spPr>
          <a:xfrm>
            <a:off x="570533" y="1282229"/>
            <a:ext cx="552822" cy="158800"/>
          </a:xfrm>
          <a:prstGeom prst="rect">
            <a:avLst/>
          </a:prstGeom>
          <a:noFill/>
          <a:ln/>
        </p:spPr>
        <p:txBody>
          <a:bodyPr wrap="none" lIns="0" tIns="0" rIns="0" bIns="0" rtlCol="0" anchor="t"/>
          <a:lstStyle/>
          <a:p>
            <a:pPr marL="0" indent="0" algn="l">
              <a:lnSpc>
                <a:spcPts val="12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CHAPTER 4</a:t>
            </a:r>
            <a:endParaRPr lang="en-US" sz="750" dirty="0"/>
          </a:p>
        </p:txBody>
      </p:sp>
      <p:sp>
        <p:nvSpPr>
          <p:cNvPr id="4" name="Text 2"/>
          <p:cNvSpPr/>
          <p:nvPr/>
        </p:nvSpPr>
        <p:spPr>
          <a:xfrm>
            <a:off x="496119" y="1527795"/>
            <a:ext cx="5513040"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Robben Island: A Symbol of Resilience</a:t>
            </a:r>
            <a:endParaRPr lang="en-US" sz="2400" dirty="0"/>
          </a:p>
        </p:txBody>
      </p:sp>
      <p:sp>
        <p:nvSpPr>
          <p:cNvPr id="5" name="Text 3"/>
          <p:cNvSpPr/>
          <p:nvPr/>
        </p:nvSpPr>
        <p:spPr>
          <a:xfrm>
            <a:off x="496119" y="2101379"/>
            <a:ext cx="8151763" cy="595387"/>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For </a:t>
            </a:r>
            <a:r>
              <a:rPr lang="en-US" sz="950" b="1" dirty="0">
                <a:solidFill>
                  <a:srgbClr val="1E3063"/>
                </a:solidFill>
                <a:latin typeface="Instrument Sans Medium" pitchFamily="34" charset="0"/>
                <a:ea typeface="Instrument Sans Medium" pitchFamily="34" charset="-122"/>
                <a:cs typeface="Instrument Sans Medium" pitchFamily="34" charset="-120"/>
              </a:rPr>
              <a:t>18 of his 27 years in prison</a:t>
            </a:r>
            <a:r>
              <a:rPr lang="en-US" sz="950" dirty="0">
                <a:solidFill>
                  <a:srgbClr val="1E3063"/>
                </a:solidFill>
                <a:latin typeface="Instrument Sans Medium" pitchFamily="34" charset="0"/>
                <a:ea typeface="Instrument Sans Medium" pitchFamily="34" charset="-122"/>
                <a:cs typeface="Instrument Sans Medium" pitchFamily="34" charset="-120"/>
              </a:rPr>
              <a:t>, Nelson Mandela was held on Robben Island — a maximum-security prison off the coast of Cape Town. Prisoners were confined to tiny cells, given minimal rations, and forced into hard labor in a limestone quarry. Yet Mandela transformed the island into a </a:t>
            </a:r>
            <a:r>
              <a:rPr lang="en-US" sz="950" b="1" dirty="0">
                <a:solidFill>
                  <a:srgbClr val="1E3063"/>
                </a:solidFill>
                <a:latin typeface="Instrument Sans Medium" pitchFamily="34" charset="0"/>
                <a:ea typeface="Instrument Sans Medium" pitchFamily="34" charset="-122"/>
                <a:cs typeface="Instrument Sans Medium" pitchFamily="34" charset="-120"/>
              </a:rPr>
              <a:t>"university"</a:t>
            </a:r>
            <a:r>
              <a:rPr lang="en-US" sz="950" dirty="0">
                <a:solidFill>
                  <a:srgbClr val="1E3063"/>
                </a:solidFill>
                <a:latin typeface="Instrument Sans Medium" pitchFamily="34" charset="0"/>
                <a:ea typeface="Instrument Sans Medium" pitchFamily="34" charset="-122"/>
                <a:cs typeface="Instrument Sans Medium" pitchFamily="34" charset="-120"/>
              </a:rPr>
              <a:t> — educating fellow prisoners, debating politics, and maintaining the spirit of resistance.</a:t>
            </a:r>
            <a:endParaRPr lang="en-US" sz="9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836292"/>
            <a:ext cx="310083" cy="310083"/>
          </a:xfrm>
          <a:prstGeom prst="rect">
            <a:avLst/>
          </a:prstGeom>
        </p:spPr>
      </p:pic>
      <p:sp>
        <p:nvSpPr>
          <p:cNvPr id="7" name="Text 4"/>
          <p:cNvSpPr/>
          <p:nvPr/>
        </p:nvSpPr>
        <p:spPr>
          <a:xfrm>
            <a:off x="961206" y="283629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Cell No. 466/64</a:t>
            </a:r>
            <a:endParaRPr lang="en-US" sz="1200" dirty="0"/>
          </a:p>
        </p:txBody>
      </p:sp>
      <p:sp>
        <p:nvSpPr>
          <p:cNvPr id="8" name="Text 5"/>
          <p:cNvSpPr/>
          <p:nvPr/>
        </p:nvSpPr>
        <p:spPr>
          <a:xfrm>
            <a:off x="961206" y="3104555"/>
            <a:ext cx="2148780"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Mandela's cell was just 2.4m × 2.1m. His prisoner number, 466/64, became a global symbol of the anti-apartheid struggle.</a:t>
            </a:r>
            <a:endParaRPr lang="en-US" sz="95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64991" y="2836292"/>
            <a:ext cx="310083" cy="310083"/>
          </a:xfrm>
          <a:prstGeom prst="rect">
            <a:avLst/>
          </a:prstGeom>
        </p:spPr>
      </p:pic>
      <p:sp>
        <p:nvSpPr>
          <p:cNvPr id="10" name="Text 6"/>
          <p:cNvSpPr/>
          <p:nvPr/>
        </p:nvSpPr>
        <p:spPr>
          <a:xfrm>
            <a:off x="3730079" y="283629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The Island University</a:t>
            </a:r>
            <a:endParaRPr lang="en-US" sz="1200" dirty="0"/>
          </a:p>
        </p:txBody>
      </p:sp>
      <p:sp>
        <p:nvSpPr>
          <p:cNvPr id="11" name="Text 7"/>
          <p:cNvSpPr/>
          <p:nvPr/>
        </p:nvSpPr>
        <p:spPr>
          <a:xfrm>
            <a:off x="3730079" y="3104555"/>
            <a:ext cx="2148855"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Prisoners organized political education classes, turning Robben Island into a crucible of leadership and ideological clarity.</a:t>
            </a:r>
            <a:endParaRPr lang="en-US" sz="95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33939" y="2836292"/>
            <a:ext cx="310083" cy="310083"/>
          </a:xfrm>
          <a:prstGeom prst="rect">
            <a:avLst/>
          </a:prstGeom>
        </p:spPr>
      </p:pic>
      <p:sp>
        <p:nvSpPr>
          <p:cNvPr id="13" name="Text 8"/>
          <p:cNvSpPr/>
          <p:nvPr/>
        </p:nvSpPr>
        <p:spPr>
          <a:xfrm>
            <a:off x="6499027" y="2836292"/>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Unbroken Spirit</a:t>
            </a:r>
            <a:endParaRPr lang="en-US" sz="1200" dirty="0"/>
          </a:p>
        </p:txBody>
      </p:sp>
      <p:sp>
        <p:nvSpPr>
          <p:cNvPr id="14" name="Text 9"/>
          <p:cNvSpPr/>
          <p:nvPr/>
        </p:nvSpPr>
        <p:spPr>
          <a:xfrm>
            <a:off x="6499027" y="3104555"/>
            <a:ext cx="2148855"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Despite harsh conditions, Mandela refused offers of release that required him to renounce violence. His integrity inspired the world.</a:t>
            </a:r>
            <a:endParaRPr lang="en-US" sz="950" dirty="0"/>
          </a:p>
        </p:txBody>
      </p:sp>
      <p:pic>
        <p:nvPicPr>
          <p:cNvPr id="15" name="Picture 14">
            <a:extLst>
              <a:ext uri="{FF2B5EF4-FFF2-40B4-BE49-F238E27FC236}">
                <a16:creationId xmlns:a16="http://schemas.microsoft.com/office/drawing/2014/main" id="{95A56858-68BB-DD2F-1F88-7C6DF839D297}"/>
              </a:ext>
            </a:extLst>
          </p:cNvPr>
          <p:cNvPicPr>
            <a:picLocks noChangeAspect="1"/>
          </p:cNvPicPr>
          <p:nvPr/>
        </p:nvPicPr>
        <p:blipFill>
          <a:blip r:embed="rId6"/>
          <a:stretch>
            <a:fillRect/>
          </a:stretch>
        </p:blipFill>
        <p:spPr>
          <a:xfrm>
            <a:off x="7934631" y="4861066"/>
            <a:ext cx="1159105" cy="25533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1285875" y="238571"/>
            <a:ext cx="469702" cy="139154"/>
          </a:xfrm>
          <a:prstGeom prst="roundRect">
            <a:avLst>
              <a:gd name="adj" fmla="val 43123"/>
            </a:avLst>
          </a:prstGeom>
          <a:solidFill>
            <a:srgbClr val="CEE6FD"/>
          </a:solidFill>
          <a:ln/>
        </p:spPr>
      </p:sp>
      <p:sp>
        <p:nvSpPr>
          <p:cNvPr id="3" name="Text 1"/>
          <p:cNvSpPr/>
          <p:nvPr/>
        </p:nvSpPr>
        <p:spPr>
          <a:xfrm>
            <a:off x="1335881" y="263575"/>
            <a:ext cx="369689" cy="89148"/>
          </a:xfrm>
          <a:prstGeom prst="rect">
            <a:avLst/>
          </a:prstGeom>
          <a:noFill/>
          <a:ln/>
        </p:spPr>
        <p:txBody>
          <a:bodyPr wrap="none" lIns="0" tIns="0" rIns="0" bIns="0" rtlCol="0" anchor="t"/>
          <a:lstStyle/>
          <a:p>
            <a:pPr marL="0" indent="0" algn="l">
              <a:lnSpc>
                <a:spcPts val="700"/>
              </a:lnSpc>
              <a:buNone/>
            </a:pPr>
            <a:r>
              <a:rPr lang="en-US" sz="500" dirty="0">
                <a:solidFill>
                  <a:srgbClr val="1E3063"/>
                </a:solidFill>
                <a:latin typeface="Instrument Sans Medium" pitchFamily="34" charset="0"/>
                <a:ea typeface="Instrument Sans Medium" pitchFamily="34" charset="-122"/>
                <a:cs typeface="Instrument Sans Medium" pitchFamily="34" charset="-120"/>
              </a:rPr>
              <a:t>CHAPTER 5</a:t>
            </a:r>
            <a:endParaRPr lang="en-US" sz="500" dirty="0"/>
          </a:p>
        </p:txBody>
      </p:sp>
      <p:sp>
        <p:nvSpPr>
          <p:cNvPr id="4" name="Text 2"/>
          <p:cNvSpPr/>
          <p:nvPr/>
        </p:nvSpPr>
        <p:spPr>
          <a:xfrm>
            <a:off x="1285875" y="400124"/>
            <a:ext cx="3690938" cy="260449"/>
          </a:xfrm>
          <a:prstGeom prst="rect">
            <a:avLst/>
          </a:prstGeom>
          <a:noFill/>
          <a:ln/>
        </p:spPr>
        <p:txBody>
          <a:bodyPr wrap="none" lIns="0" tIns="0" rIns="0" bIns="0" rtlCol="0" anchor="t"/>
          <a:lstStyle/>
          <a:p>
            <a:pPr marL="0" indent="0" algn="l">
              <a:lnSpc>
                <a:spcPts val="2050"/>
              </a:lnSpc>
              <a:buNone/>
            </a:pPr>
            <a:r>
              <a:rPr lang="en-US" sz="1600" dirty="0">
                <a:solidFill>
                  <a:srgbClr val="091C53"/>
                </a:solidFill>
                <a:latin typeface="Instrument Sans Semi Bold" pitchFamily="34" charset="0"/>
                <a:ea typeface="Instrument Sans Semi Bold" pitchFamily="34" charset="-122"/>
                <a:cs typeface="Instrument Sans Semi Bold" pitchFamily="34" charset="-120"/>
              </a:rPr>
              <a:t>The Global Anti-Apartheid Movement</a:t>
            </a:r>
            <a:endParaRPr lang="en-US" sz="1600" dirty="0"/>
          </a:p>
        </p:txBody>
      </p:sp>
      <p:sp>
        <p:nvSpPr>
          <p:cNvPr id="5" name="Text 3"/>
          <p:cNvSpPr/>
          <p:nvPr/>
        </p:nvSpPr>
        <p:spPr>
          <a:xfrm>
            <a:off x="1285875" y="800472"/>
            <a:ext cx="1473771" cy="130225"/>
          </a:xfrm>
          <a:prstGeom prst="rect">
            <a:avLst/>
          </a:prstGeom>
          <a:noFill/>
          <a:ln/>
        </p:spPr>
        <p:txBody>
          <a:bodyPr wrap="none" lIns="0" tIns="0" rIns="0" bIns="0" rtlCol="0" anchor="t"/>
          <a:lstStyle/>
          <a:p>
            <a:pPr marL="0" indent="0" algn="l">
              <a:lnSpc>
                <a:spcPts val="1000"/>
              </a:lnSpc>
              <a:buNone/>
            </a:pPr>
            <a:r>
              <a:rPr lang="en-US" sz="800" dirty="0">
                <a:solidFill>
                  <a:srgbClr val="091C53"/>
                </a:solidFill>
                <a:latin typeface="Instrument Sans Semi Bold" pitchFamily="34" charset="0"/>
                <a:ea typeface="Instrument Sans Semi Bold" pitchFamily="34" charset="-122"/>
                <a:cs typeface="Instrument Sans Semi Bold" pitchFamily="34" charset="-120"/>
              </a:rPr>
              <a:t>International Pressure Mounts</a:t>
            </a:r>
            <a:endParaRPr lang="en-US" sz="800" dirty="0"/>
          </a:p>
        </p:txBody>
      </p:sp>
      <p:sp>
        <p:nvSpPr>
          <p:cNvPr id="6" name="Text 4"/>
          <p:cNvSpPr/>
          <p:nvPr/>
        </p:nvSpPr>
        <p:spPr>
          <a:xfrm>
            <a:off x="1285875" y="986656"/>
            <a:ext cx="3184475" cy="445889"/>
          </a:xfrm>
          <a:prstGeom prst="rect">
            <a:avLst/>
          </a:prstGeom>
          <a:noFill/>
          <a:ln/>
        </p:spPr>
        <p:txBody>
          <a:bodyPr wrap="square" lIns="0" tIns="0" rIns="0" bIns="0" rtlCol="0" anchor="t"/>
          <a:lstStyle/>
          <a:p>
            <a:pPr marL="0" indent="0" algn="l">
              <a:lnSpc>
                <a:spcPts val="8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The world could not ignore apartheid. Nations imposed </a:t>
            </a:r>
            <a:r>
              <a:rPr lang="en-US" sz="650" b="1" dirty="0">
                <a:solidFill>
                  <a:srgbClr val="1E3063"/>
                </a:solidFill>
                <a:latin typeface="Instrument Sans Medium" pitchFamily="34" charset="0"/>
                <a:ea typeface="Instrument Sans Medium" pitchFamily="34" charset="-122"/>
                <a:cs typeface="Instrument Sans Medium" pitchFamily="34" charset="-120"/>
              </a:rPr>
              <a:t>economic sanctions</a:t>
            </a:r>
            <a:r>
              <a:rPr lang="en-US" sz="650" dirty="0">
                <a:solidFill>
                  <a:srgbClr val="1E3063"/>
                </a:solidFill>
                <a:latin typeface="Instrument Sans Medium" pitchFamily="34" charset="0"/>
                <a:ea typeface="Instrument Sans Medium" pitchFamily="34" charset="-122"/>
                <a:cs typeface="Instrument Sans Medium" pitchFamily="34" charset="-120"/>
              </a:rPr>
              <a:t>, cultural boycotts, and sporting bans on South Africa. The United Nations condemned the regime. Musicians, artists, and athletes refused to perform or compete in South Africa.</a:t>
            </a:r>
            <a:endParaRPr lang="en-US" sz="650" dirty="0"/>
          </a:p>
        </p:txBody>
      </p:sp>
      <p:sp>
        <p:nvSpPr>
          <p:cNvPr id="7" name="Text 5"/>
          <p:cNvSpPr/>
          <p:nvPr/>
        </p:nvSpPr>
        <p:spPr>
          <a:xfrm>
            <a:off x="1285875" y="1488504"/>
            <a:ext cx="1554882" cy="130225"/>
          </a:xfrm>
          <a:prstGeom prst="rect">
            <a:avLst/>
          </a:prstGeom>
          <a:noFill/>
          <a:ln/>
        </p:spPr>
        <p:txBody>
          <a:bodyPr wrap="none" lIns="0" tIns="0" rIns="0" bIns="0" rtlCol="0" anchor="t"/>
          <a:lstStyle/>
          <a:p>
            <a:pPr marL="0" indent="0" algn="l">
              <a:lnSpc>
                <a:spcPts val="1000"/>
              </a:lnSpc>
              <a:buNone/>
            </a:pPr>
            <a:r>
              <a:rPr lang="en-US" sz="800" dirty="0">
                <a:solidFill>
                  <a:srgbClr val="091C53"/>
                </a:solidFill>
                <a:latin typeface="Instrument Sans Semi Bold" pitchFamily="34" charset="0"/>
                <a:ea typeface="Instrument Sans Semi Bold" pitchFamily="34" charset="-122"/>
                <a:cs typeface="Instrument Sans Semi Bold" pitchFamily="34" charset="-120"/>
              </a:rPr>
              <a:t>Free Nelson Mandela Campaign</a:t>
            </a:r>
            <a:endParaRPr lang="en-US" sz="800" dirty="0"/>
          </a:p>
        </p:txBody>
      </p:sp>
      <p:sp>
        <p:nvSpPr>
          <p:cNvPr id="8" name="Text 6"/>
          <p:cNvSpPr/>
          <p:nvPr/>
        </p:nvSpPr>
        <p:spPr>
          <a:xfrm>
            <a:off x="1285875" y="1674688"/>
            <a:ext cx="3184475" cy="445889"/>
          </a:xfrm>
          <a:prstGeom prst="rect">
            <a:avLst/>
          </a:prstGeom>
          <a:noFill/>
          <a:ln/>
        </p:spPr>
        <p:txBody>
          <a:bodyPr wrap="square" lIns="0" tIns="0" rIns="0" bIns="0" rtlCol="0" anchor="t"/>
          <a:lstStyle/>
          <a:p>
            <a:pPr marL="0" indent="0" algn="l">
              <a:lnSpc>
                <a:spcPts val="8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The slogan </a:t>
            </a:r>
            <a:r>
              <a:rPr lang="en-US" sz="650" b="1" dirty="0">
                <a:solidFill>
                  <a:srgbClr val="1E3063"/>
                </a:solidFill>
                <a:latin typeface="Instrument Sans Medium" pitchFamily="34" charset="0"/>
                <a:ea typeface="Instrument Sans Medium" pitchFamily="34" charset="-122"/>
                <a:cs typeface="Instrument Sans Medium" pitchFamily="34" charset="-120"/>
              </a:rPr>
              <a:t>"Free Nelson Mandela"</a:t>
            </a:r>
            <a:r>
              <a:rPr lang="en-US" sz="650" dirty="0">
                <a:solidFill>
                  <a:srgbClr val="1E3063"/>
                </a:solidFill>
                <a:latin typeface="Instrument Sans Medium" pitchFamily="34" charset="0"/>
                <a:ea typeface="Instrument Sans Medium" pitchFamily="34" charset="-122"/>
                <a:cs typeface="Instrument Sans Medium" pitchFamily="34" charset="-120"/>
              </a:rPr>
              <a:t> became a rallying cry worldwide. Massive concerts like the 1988 </a:t>
            </a:r>
            <a:r>
              <a:rPr lang="en-US" sz="650" i="1" dirty="0">
                <a:solidFill>
                  <a:srgbClr val="1E3063"/>
                </a:solidFill>
                <a:latin typeface="Instrument Sans Medium" pitchFamily="34" charset="0"/>
                <a:ea typeface="Instrument Sans Medium" pitchFamily="34" charset="-122"/>
                <a:cs typeface="Instrument Sans Medium" pitchFamily="34" charset="-120"/>
              </a:rPr>
              <a:t>Nelson Mandela 70th Birthday Tribute</a:t>
            </a:r>
            <a:r>
              <a:rPr lang="en-US" sz="650" dirty="0">
                <a:solidFill>
                  <a:srgbClr val="1E3063"/>
                </a:solidFill>
                <a:latin typeface="Instrument Sans Medium" pitchFamily="34" charset="0"/>
                <a:ea typeface="Instrument Sans Medium" pitchFamily="34" charset="-122"/>
                <a:cs typeface="Instrument Sans Medium" pitchFamily="34" charset="-120"/>
              </a:rPr>
              <a:t> at Wembley Stadium reached 600 million viewers across 67 countries. Governments, universities, and civil society groups joined the call for his release.</a:t>
            </a:r>
            <a:endParaRPr lang="en-US" sz="650" dirty="0"/>
          </a:p>
        </p:txBody>
      </p:sp>
      <p:pic>
        <p:nvPicPr>
          <p:cNvPr id="9" name="Image 0" descr="preencoded.png"/>
          <p:cNvPicPr>
            <a:picLocks noChangeAspect="1"/>
          </p:cNvPicPr>
          <p:nvPr/>
        </p:nvPicPr>
        <p:blipFill>
          <a:blip r:embed="rId3"/>
          <a:stretch>
            <a:fillRect/>
          </a:stretch>
        </p:blipFill>
        <p:spPr>
          <a:xfrm>
            <a:off x="4678412" y="807467"/>
            <a:ext cx="3184475" cy="3184475"/>
          </a:xfrm>
          <a:prstGeom prst="rect">
            <a:avLst/>
          </a:prstGeom>
        </p:spPr>
      </p:pic>
      <p:sp>
        <p:nvSpPr>
          <p:cNvPr id="10" name="Text 7"/>
          <p:cNvSpPr/>
          <p:nvPr/>
        </p:nvSpPr>
        <p:spPr>
          <a:xfrm>
            <a:off x="1285875" y="4159523"/>
            <a:ext cx="2144092" cy="275034"/>
          </a:xfrm>
          <a:prstGeom prst="rect">
            <a:avLst/>
          </a:prstGeom>
          <a:noFill/>
          <a:ln/>
        </p:spPr>
        <p:txBody>
          <a:bodyPr wrap="none" lIns="0" tIns="0" rIns="0" bIns="0" rtlCol="0" anchor="t"/>
          <a:lstStyle/>
          <a:p>
            <a:pPr marL="0" indent="0" algn="ctr">
              <a:lnSpc>
                <a:spcPts val="2150"/>
              </a:lnSpc>
              <a:buNone/>
            </a:pPr>
            <a:r>
              <a:rPr lang="en-US" sz="2150" dirty="0">
                <a:solidFill>
                  <a:srgbClr val="1E3063"/>
                </a:solidFill>
                <a:latin typeface="Instrument Sans Semi Bold" pitchFamily="34" charset="0"/>
                <a:ea typeface="Instrument Sans Semi Bold" pitchFamily="34" charset="-122"/>
                <a:cs typeface="Instrument Sans Semi Bold" pitchFamily="34" charset="-120"/>
              </a:rPr>
              <a:t>27</a:t>
            </a:r>
            <a:endParaRPr lang="en-US" sz="2150" dirty="0"/>
          </a:p>
        </p:txBody>
      </p:sp>
      <p:sp>
        <p:nvSpPr>
          <p:cNvPr id="11" name="Text 8"/>
          <p:cNvSpPr/>
          <p:nvPr/>
        </p:nvSpPr>
        <p:spPr>
          <a:xfrm>
            <a:off x="1836986" y="4518199"/>
            <a:ext cx="1041797" cy="130225"/>
          </a:xfrm>
          <a:prstGeom prst="rect">
            <a:avLst/>
          </a:prstGeom>
          <a:noFill/>
          <a:ln/>
        </p:spPr>
        <p:txBody>
          <a:bodyPr wrap="none" lIns="0" tIns="0" rIns="0" bIns="0" rtlCol="0" anchor="t"/>
          <a:lstStyle/>
          <a:p>
            <a:pPr marL="0" indent="0" algn="ctr">
              <a:lnSpc>
                <a:spcPts val="1000"/>
              </a:lnSpc>
              <a:buNone/>
            </a:pPr>
            <a:r>
              <a:rPr lang="en-US" sz="800" dirty="0">
                <a:solidFill>
                  <a:srgbClr val="1E3063"/>
                </a:solidFill>
                <a:latin typeface="Instrument Sans Semi Bold" pitchFamily="34" charset="0"/>
                <a:ea typeface="Instrument Sans Semi Bold" pitchFamily="34" charset="-122"/>
                <a:cs typeface="Instrument Sans Semi Bold" pitchFamily="34" charset="-120"/>
              </a:rPr>
              <a:t>Years Imprisoned</a:t>
            </a:r>
            <a:endParaRPr lang="en-US" sz="800" dirty="0"/>
          </a:p>
        </p:txBody>
      </p:sp>
      <p:sp>
        <p:nvSpPr>
          <p:cNvPr id="12" name="Text 9"/>
          <p:cNvSpPr/>
          <p:nvPr/>
        </p:nvSpPr>
        <p:spPr>
          <a:xfrm>
            <a:off x="1285875" y="4681984"/>
            <a:ext cx="2144092" cy="111472"/>
          </a:xfrm>
          <a:prstGeom prst="rect">
            <a:avLst/>
          </a:prstGeom>
          <a:noFill/>
          <a:ln/>
        </p:spPr>
        <p:txBody>
          <a:bodyPr wrap="none" lIns="0" tIns="0" rIns="0" bIns="0" rtlCol="0" anchor="t"/>
          <a:lstStyle/>
          <a:p>
            <a:pPr marL="0" indent="0" algn="ctr">
              <a:lnSpc>
                <a:spcPts val="8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Mandela spent 27 years behind bars, from 1964 to 1990.</a:t>
            </a:r>
            <a:endParaRPr lang="en-US" sz="650" dirty="0"/>
          </a:p>
        </p:txBody>
      </p:sp>
      <p:sp>
        <p:nvSpPr>
          <p:cNvPr id="13" name="Text 10"/>
          <p:cNvSpPr/>
          <p:nvPr/>
        </p:nvSpPr>
        <p:spPr>
          <a:xfrm>
            <a:off x="3499917" y="4159523"/>
            <a:ext cx="2144092" cy="275034"/>
          </a:xfrm>
          <a:prstGeom prst="rect">
            <a:avLst/>
          </a:prstGeom>
          <a:noFill/>
          <a:ln/>
        </p:spPr>
        <p:txBody>
          <a:bodyPr wrap="none" lIns="0" tIns="0" rIns="0" bIns="0" rtlCol="0" anchor="t"/>
          <a:lstStyle/>
          <a:p>
            <a:pPr marL="0" indent="0" algn="ctr">
              <a:lnSpc>
                <a:spcPts val="2150"/>
              </a:lnSpc>
              <a:buNone/>
            </a:pPr>
            <a:r>
              <a:rPr lang="en-US" sz="2150" dirty="0">
                <a:solidFill>
                  <a:srgbClr val="1E3063"/>
                </a:solidFill>
                <a:latin typeface="Instrument Sans Semi Bold" pitchFamily="34" charset="0"/>
                <a:ea typeface="Instrument Sans Semi Bold" pitchFamily="34" charset="-122"/>
                <a:cs typeface="Instrument Sans Semi Bold" pitchFamily="34" charset="-120"/>
              </a:rPr>
              <a:t>600M</a:t>
            </a:r>
            <a:endParaRPr lang="en-US" sz="2150" dirty="0"/>
          </a:p>
        </p:txBody>
      </p:sp>
      <p:sp>
        <p:nvSpPr>
          <p:cNvPr id="14" name="Text 11"/>
          <p:cNvSpPr/>
          <p:nvPr/>
        </p:nvSpPr>
        <p:spPr>
          <a:xfrm>
            <a:off x="4051027" y="4518199"/>
            <a:ext cx="1041797" cy="130225"/>
          </a:xfrm>
          <a:prstGeom prst="rect">
            <a:avLst/>
          </a:prstGeom>
          <a:noFill/>
          <a:ln/>
        </p:spPr>
        <p:txBody>
          <a:bodyPr wrap="none" lIns="0" tIns="0" rIns="0" bIns="0" rtlCol="0" anchor="t"/>
          <a:lstStyle/>
          <a:p>
            <a:pPr marL="0" indent="0" algn="ctr">
              <a:lnSpc>
                <a:spcPts val="1000"/>
              </a:lnSpc>
              <a:buNone/>
            </a:pPr>
            <a:r>
              <a:rPr lang="en-US" sz="800" dirty="0">
                <a:solidFill>
                  <a:srgbClr val="1E3063"/>
                </a:solidFill>
                <a:latin typeface="Instrument Sans Semi Bold" pitchFamily="34" charset="0"/>
                <a:ea typeface="Instrument Sans Semi Bold" pitchFamily="34" charset="-122"/>
                <a:cs typeface="Instrument Sans Semi Bold" pitchFamily="34" charset="-120"/>
              </a:rPr>
              <a:t>Concert Viewers</a:t>
            </a:r>
            <a:endParaRPr lang="en-US" sz="800" dirty="0"/>
          </a:p>
        </p:txBody>
      </p:sp>
      <p:sp>
        <p:nvSpPr>
          <p:cNvPr id="15" name="Text 12"/>
          <p:cNvSpPr/>
          <p:nvPr/>
        </p:nvSpPr>
        <p:spPr>
          <a:xfrm>
            <a:off x="3499917" y="4681984"/>
            <a:ext cx="2144092" cy="222945"/>
          </a:xfrm>
          <a:prstGeom prst="rect">
            <a:avLst/>
          </a:prstGeom>
          <a:noFill/>
          <a:ln/>
        </p:spPr>
        <p:txBody>
          <a:bodyPr wrap="square" lIns="0" tIns="0" rIns="0" bIns="0" rtlCol="0" anchor="t"/>
          <a:lstStyle/>
          <a:p>
            <a:pPr marL="0" indent="0" algn="ctr">
              <a:lnSpc>
                <a:spcPts val="8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The 1988 Wembley tribute broadcast reached 600 million people globally.</a:t>
            </a:r>
            <a:endParaRPr lang="en-US" sz="650" dirty="0"/>
          </a:p>
        </p:txBody>
      </p:sp>
      <p:sp>
        <p:nvSpPr>
          <p:cNvPr id="16" name="Text 13"/>
          <p:cNvSpPr/>
          <p:nvPr/>
        </p:nvSpPr>
        <p:spPr>
          <a:xfrm>
            <a:off x="5713958" y="4159523"/>
            <a:ext cx="2144167" cy="275034"/>
          </a:xfrm>
          <a:prstGeom prst="rect">
            <a:avLst/>
          </a:prstGeom>
          <a:noFill/>
          <a:ln/>
        </p:spPr>
        <p:txBody>
          <a:bodyPr wrap="none" lIns="0" tIns="0" rIns="0" bIns="0" rtlCol="0" anchor="t"/>
          <a:lstStyle/>
          <a:p>
            <a:pPr marL="0" indent="0" algn="ctr">
              <a:lnSpc>
                <a:spcPts val="2150"/>
              </a:lnSpc>
              <a:buNone/>
            </a:pPr>
            <a:r>
              <a:rPr lang="en-US" sz="2150" dirty="0">
                <a:solidFill>
                  <a:srgbClr val="1E3063"/>
                </a:solidFill>
                <a:latin typeface="Instrument Sans Semi Bold" pitchFamily="34" charset="0"/>
                <a:ea typeface="Instrument Sans Semi Bold" pitchFamily="34" charset="-122"/>
                <a:cs typeface="Instrument Sans Semi Bold" pitchFamily="34" charset="-120"/>
              </a:rPr>
              <a:t>1990</a:t>
            </a:r>
            <a:endParaRPr lang="en-US" sz="2150" dirty="0"/>
          </a:p>
        </p:txBody>
      </p:sp>
      <p:sp>
        <p:nvSpPr>
          <p:cNvPr id="17" name="Text 14"/>
          <p:cNvSpPr/>
          <p:nvPr/>
        </p:nvSpPr>
        <p:spPr>
          <a:xfrm>
            <a:off x="6265143" y="4518199"/>
            <a:ext cx="1041797" cy="130225"/>
          </a:xfrm>
          <a:prstGeom prst="rect">
            <a:avLst/>
          </a:prstGeom>
          <a:noFill/>
          <a:ln/>
        </p:spPr>
        <p:txBody>
          <a:bodyPr wrap="none" lIns="0" tIns="0" rIns="0" bIns="0" rtlCol="0" anchor="t"/>
          <a:lstStyle/>
          <a:p>
            <a:pPr marL="0" indent="0" algn="ctr">
              <a:lnSpc>
                <a:spcPts val="1000"/>
              </a:lnSpc>
              <a:buNone/>
            </a:pPr>
            <a:r>
              <a:rPr lang="en-US" sz="800" dirty="0">
                <a:solidFill>
                  <a:srgbClr val="1E3063"/>
                </a:solidFill>
                <a:latin typeface="Instrument Sans Semi Bold" pitchFamily="34" charset="0"/>
                <a:ea typeface="Instrument Sans Semi Bold" pitchFamily="34" charset="-122"/>
                <a:cs typeface="Instrument Sans Semi Bold" pitchFamily="34" charset="-120"/>
              </a:rPr>
              <a:t>Year of Release</a:t>
            </a:r>
            <a:endParaRPr lang="en-US" sz="800" dirty="0"/>
          </a:p>
        </p:txBody>
      </p:sp>
      <p:sp>
        <p:nvSpPr>
          <p:cNvPr id="18" name="Text 15"/>
          <p:cNvSpPr/>
          <p:nvPr/>
        </p:nvSpPr>
        <p:spPr>
          <a:xfrm>
            <a:off x="5713958" y="4681984"/>
            <a:ext cx="2144167" cy="222945"/>
          </a:xfrm>
          <a:prstGeom prst="rect">
            <a:avLst/>
          </a:prstGeom>
          <a:noFill/>
          <a:ln/>
        </p:spPr>
        <p:txBody>
          <a:bodyPr wrap="square" lIns="0" tIns="0" rIns="0" bIns="0" rtlCol="0" anchor="t"/>
          <a:lstStyle/>
          <a:p>
            <a:pPr marL="0" indent="0" algn="ctr">
              <a:lnSpc>
                <a:spcPts val="850"/>
              </a:lnSpc>
              <a:buNone/>
            </a:pPr>
            <a:r>
              <a:rPr lang="en-US" sz="650" dirty="0">
                <a:solidFill>
                  <a:srgbClr val="1E3063"/>
                </a:solidFill>
                <a:latin typeface="Instrument Sans Medium" pitchFamily="34" charset="0"/>
                <a:ea typeface="Instrument Sans Medium" pitchFamily="34" charset="-122"/>
                <a:cs typeface="Instrument Sans Medium" pitchFamily="34" charset="-120"/>
              </a:rPr>
              <a:t>On February 11, 1990, Mandela walked free — a moment watched by the entire world.</a:t>
            </a:r>
            <a:endParaRPr lang="en-US" sz="650" dirty="0"/>
          </a:p>
        </p:txBody>
      </p:sp>
      <p:pic>
        <p:nvPicPr>
          <p:cNvPr id="19" name="Picture 18">
            <a:extLst>
              <a:ext uri="{FF2B5EF4-FFF2-40B4-BE49-F238E27FC236}">
                <a16:creationId xmlns:a16="http://schemas.microsoft.com/office/drawing/2014/main" id="{05CE8B00-5BB2-C250-9626-76CF89F3FCEB}"/>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74489" y="279053"/>
            <a:ext cx="559073" cy="172938"/>
          </a:xfrm>
          <a:prstGeom prst="roundRect">
            <a:avLst>
              <a:gd name="adj" fmla="val 41154"/>
            </a:avLst>
          </a:prstGeom>
          <a:solidFill>
            <a:srgbClr val="CEE6FD"/>
          </a:solidFill>
          <a:ln/>
        </p:spPr>
      </p:sp>
      <p:sp>
        <p:nvSpPr>
          <p:cNvPr id="3" name="Text 1"/>
          <p:cNvSpPr/>
          <p:nvPr/>
        </p:nvSpPr>
        <p:spPr>
          <a:xfrm>
            <a:off x="733797" y="308670"/>
            <a:ext cx="440457" cy="113705"/>
          </a:xfrm>
          <a:prstGeom prst="rect">
            <a:avLst/>
          </a:prstGeom>
          <a:noFill/>
          <a:ln/>
        </p:spPr>
        <p:txBody>
          <a:bodyPr wrap="none" lIns="0" tIns="0" rIns="0" bIns="0" rtlCol="0" anchor="t"/>
          <a:lstStyle/>
          <a:p>
            <a:pPr marL="0" indent="0" algn="l">
              <a:lnSpc>
                <a:spcPts val="850"/>
              </a:lnSpc>
              <a:buNone/>
            </a:pPr>
            <a:r>
              <a:rPr lang="en-US" sz="600" dirty="0">
                <a:solidFill>
                  <a:srgbClr val="1E3063"/>
                </a:solidFill>
                <a:latin typeface="Instrument Sans Medium" pitchFamily="34" charset="0"/>
                <a:ea typeface="Instrument Sans Medium" pitchFamily="34" charset="-122"/>
                <a:cs typeface="Instrument Sans Medium" pitchFamily="34" charset="-120"/>
              </a:rPr>
              <a:t>CHAPTER 6</a:t>
            </a:r>
            <a:endParaRPr lang="en-US" sz="600" dirty="0"/>
          </a:p>
        </p:txBody>
      </p:sp>
      <p:sp>
        <p:nvSpPr>
          <p:cNvPr id="4" name="Text 2"/>
          <p:cNvSpPr/>
          <p:nvPr/>
        </p:nvSpPr>
        <p:spPr>
          <a:xfrm>
            <a:off x="674489" y="483468"/>
            <a:ext cx="6068913" cy="308893"/>
          </a:xfrm>
          <a:prstGeom prst="rect">
            <a:avLst/>
          </a:prstGeom>
          <a:noFill/>
          <a:ln/>
        </p:spPr>
        <p:txBody>
          <a:bodyPr wrap="none" lIns="0" tIns="0" rIns="0" bIns="0" rtlCol="0" anchor="t"/>
          <a:lstStyle/>
          <a:p>
            <a:pPr marL="0" indent="0" algn="l">
              <a:lnSpc>
                <a:spcPts val="2400"/>
              </a:lnSpc>
              <a:buNone/>
            </a:pPr>
            <a:r>
              <a:rPr lang="en-US" sz="1900" dirty="0">
                <a:solidFill>
                  <a:srgbClr val="091C53"/>
                </a:solidFill>
                <a:latin typeface="Instrument Sans Semi Bold" pitchFamily="34" charset="0"/>
                <a:ea typeface="Instrument Sans Semi Bold" pitchFamily="34" charset="-122"/>
                <a:cs typeface="Instrument Sans Semi Bold" pitchFamily="34" charset="-120"/>
              </a:rPr>
              <a:t>"A Long Walk to Freedom": Mandela's Autobiography</a:t>
            </a:r>
            <a:endParaRPr lang="en-US" sz="1900" dirty="0"/>
          </a:p>
        </p:txBody>
      </p:sp>
      <p:pic>
        <p:nvPicPr>
          <p:cNvPr id="5" name="Image 0" descr="preencoded.png"/>
          <p:cNvPicPr>
            <a:picLocks noChangeAspect="1"/>
          </p:cNvPicPr>
          <p:nvPr/>
        </p:nvPicPr>
        <p:blipFill>
          <a:blip r:embed="rId3"/>
          <a:stretch>
            <a:fillRect/>
          </a:stretch>
        </p:blipFill>
        <p:spPr>
          <a:xfrm>
            <a:off x="674489" y="999009"/>
            <a:ext cx="3776886" cy="3776886"/>
          </a:xfrm>
          <a:prstGeom prst="rect">
            <a:avLst/>
          </a:prstGeom>
        </p:spPr>
      </p:pic>
      <p:sp>
        <p:nvSpPr>
          <p:cNvPr id="6" name="Text 3"/>
          <p:cNvSpPr/>
          <p:nvPr/>
        </p:nvSpPr>
        <p:spPr>
          <a:xfrm>
            <a:off x="4697239" y="989186"/>
            <a:ext cx="1848222" cy="154409"/>
          </a:xfrm>
          <a:prstGeom prst="rect">
            <a:avLst/>
          </a:prstGeom>
          <a:noFill/>
          <a:ln/>
        </p:spPr>
        <p:txBody>
          <a:bodyPr wrap="none" lIns="0" tIns="0" rIns="0" bIns="0" rtlCol="0" anchor="t"/>
          <a:lstStyle/>
          <a:p>
            <a:pPr marL="0" indent="0" algn="l">
              <a:lnSpc>
                <a:spcPts val="1200"/>
              </a:lnSpc>
              <a:buNone/>
            </a:pPr>
            <a:r>
              <a:rPr lang="en-US" sz="950" dirty="0">
                <a:solidFill>
                  <a:srgbClr val="091C53"/>
                </a:solidFill>
                <a:latin typeface="Instrument Sans Semi Bold" pitchFamily="34" charset="0"/>
                <a:ea typeface="Instrument Sans Semi Bold" pitchFamily="34" charset="-122"/>
                <a:cs typeface="Instrument Sans Semi Bold" pitchFamily="34" charset="-120"/>
              </a:rPr>
              <a:t>A Life Written in His Own Words</a:t>
            </a:r>
            <a:endParaRPr lang="en-US" sz="950" dirty="0"/>
          </a:p>
        </p:txBody>
      </p:sp>
      <p:sp>
        <p:nvSpPr>
          <p:cNvPr id="7" name="Text 4"/>
          <p:cNvSpPr/>
          <p:nvPr/>
        </p:nvSpPr>
        <p:spPr>
          <a:xfrm>
            <a:off x="4697239" y="1222325"/>
            <a:ext cx="3776886" cy="568226"/>
          </a:xfrm>
          <a:prstGeom prst="rect">
            <a:avLst/>
          </a:prstGeom>
          <a:noFill/>
          <a:ln/>
        </p:spPr>
        <p:txBody>
          <a:bodyPr wrap="square" lIns="0" tIns="0" rIns="0" bIns="0" rtlCol="0" anchor="t"/>
          <a:lstStyle/>
          <a:p>
            <a:pPr marL="0" indent="0" algn="l">
              <a:lnSpc>
                <a:spcPts val="11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Published in </a:t>
            </a:r>
            <a:r>
              <a:rPr lang="en-US" sz="750" b="1" dirty="0">
                <a:solidFill>
                  <a:srgbClr val="1E3063"/>
                </a:solidFill>
                <a:latin typeface="Instrument Sans Medium" pitchFamily="34" charset="0"/>
                <a:ea typeface="Instrument Sans Medium" pitchFamily="34" charset="-122"/>
                <a:cs typeface="Instrument Sans Medium" pitchFamily="34" charset="-120"/>
              </a:rPr>
              <a:t>1994</a:t>
            </a:r>
            <a:r>
              <a:rPr lang="en-US" sz="750" dirty="0">
                <a:solidFill>
                  <a:srgbClr val="1E3063"/>
                </a:solidFill>
                <a:latin typeface="Instrument Sans Medium" pitchFamily="34" charset="0"/>
                <a:ea typeface="Instrument Sans Medium" pitchFamily="34" charset="-122"/>
                <a:cs typeface="Instrument Sans Medium" pitchFamily="34" charset="-120"/>
              </a:rPr>
              <a:t>, </a:t>
            </a:r>
            <a:r>
              <a:rPr lang="en-US" sz="750" i="1" dirty="0">
                <a:solidFill>
                  <a:srgbClr val="1E3063"/>
                </a:solidFill>
                <a:latin typeface="Instrument Sans Medium" pitchFamily="34" charset="0"/>
                <a:ea typeface="Instrument Sans Medium" pitchFamily="34" charset="-122"/>
                <a:cs typeface="Instrument Sans Medium" pitchFamily="34" charset="-120"/>
              </a:rPr>
              <a:t>Long Walk to Freedom</a:t>
            </a:r>
            <a:r>
              <a:rPr lang="en-US" sz="750" dirty="0">
                <a:solidFill>
                  <a:srgbClr val="1E3063"/>
                </a:solidFill>
                <a:latin typeface="Instrument Sans Medium" pitchFamily="34" charset="0"/>
                <a:ea typeface="Instrument Sans Medium" pitchFamily="34" charset="-122"/>
                <a:cs typeface="Instrument Sans Medium" pitchFamily="34" charset="-120"/>
              </a:rPr>
              <a:t> is Mandela's autobiography — a deeply personal account of his journey from a rural Xhosa boy to a global icon of justice. The book covers his childhood, education, political awakening, years of armed struggle, the Rivonia Trial, and nearly three decades of imprisonment.</a:t>
            </a:r>
            <a:endParaRPr lang="en-US" sz="750" dirty="0"/>
          </a:p>
        </p:txBody>
      </p:sp>
      <p:sp>
        <p:nvSpPr>
          <p:cNvPr id="8" name="Text 5"/>
          <p:cNvSpPr/>
          <p:nvPr/>
        </p:nvSpPr>
        <p:spPr>
          <a:xfrm>
            <a:off x="4697239" y="1869281"/>
            <a:ext cx="1235571" cy="154409"/>
          </a:xfrm>
          <a:prstGeom prst="rect">
            <a:avLst/>
          </a:prstGeom>
          <a:noFill/>
          <a:ln/>
        </p:spPr>
        <p:txBody>
          <a:bodyPr wrap="none" lIns="0" tIns="0" rIns="0" bIns="0" rtlCol="0" anchor="t"/>
          <a:lstStyle/>
          <a:p>
            <a:pPr marL="0" indent="0" algn="l">
              <a:lnSpc>
                <a:spcPts val="1200"/>
              </a:lnSpc>
              <a:buNone/>
            </a:pPr>
            <a:r>
              <a:rPr lang="en-US" sz="950" dirty="0">
                <a:solidFill>
                  <a:srgbClr val="091C53"/>
                </a:solidFill>
                <a:latin typeface="Instrument Sans Semi Bold" pitchFamily="34" charset="0"/>
                <a:ea typeface="Instrument Sans Semi Bold" pitchFamily="34" charset="-122"/>
                <a:cs typeface="Instrument Sans Semi Bold" pitchFamily="34" charset="-120"/>
              </a:rPr>
              <a:t>Why It Matters</a:t>
            </a:r>
            <a:endParaRPr lang="en-US" sz="950" dirty="0"/>
          </a:p>
        </p:txBody>
      </p:sp>
      <p:sp>
        <p:nvSpPr>
          <p:cNvPr id="9" name="Text 6"/>
          <p:cNvSpPr/>
          <p:nvPr/>
        </p:nvSpPr>
        <p:spPr>
          <a:xfrm>
            <a:off x="4697239" y="2102421"/>
            <a:ext cx="3776886" cy="710282"/>
          </a:xfrm>
          <a:prstGeom prst="rect">
            <a:avLst/>
          </a:prstGeom>
          <a:noFill/>
          <a:ln/>
        </p:spPr>
        <p:txBody>
          <a:bodyPr wrap="square" lIns="0" tIns="0" rIns="0" bIns="0" rtlCol="0" anchor="t"/>
          <a:lstStyle/>
          <a:p>
            <a:pPr marL="0" indent="0" algn="l">
              <a:lnSpc>
                <a:spcPts val="110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The autobiography is not just a memoir — it is a </a:t>
            </a:r>
            <a:r>
              <a:rPr lang="en-US" sz="750" b="1" dirty="0">
                <a:solidFill>
                  <a:srgbClr val="1E3063"/>
                </a:solidFill>
                <a:latin typeface="Instrument Sans Medium" pitchFamily="34" charset="0"/>
                <a:ea typeface="Instrument Sans Medium" pitchFamily="34" charset="-122"/>
                <a:cs typeface="Instrument Sans Medium" pitchFamily="34" charset="-120"/>
              </a:rPr>
              <a:t>testament to the human spirit</a:t>
            </a:r>
            <a:r>
              <a:rPr lang="en-US" sz="750" dirty="0">
                <a:solidFill>
                  <a:srgbClr val="1E3063"/>
                </a:solidFill>
                <a:latin typeface="Instrument Sans Medium" pitchFamily="34" charset="0"/>
                <a:ea typeface="Instrument Sans Medium" pitchFamily="34" charset="-122"/>
                <a:cs typeface="Instrument Sans Medium" pitchFamily="34" charset="-120"/>
              </a:rPr>
              <a:t>. Mandela writes with honesty about his doubts, his anger, and his evolving philosophy of forgiveness. He reveals how hatred was replaced by a vision of reconciliation. The book remains essential reading for anyone seeking to understand the cost and meaning of freedom.</a:t>
            </a:r>
            <a:endParaRPr lang="en-US" sz="750" dirty="0"/>
          </a:p>
        </p:txBody>
      </p:sp>
      <p:sp>
        <p:nvSpPr>
          <p:cNvPr id="10" name="Shape 7"/>
          <p:cNvSpPr/>
          <p:nvPr/>
        </p:nvSpPr>
        <p:spPr>
          <a:xfrm>
            <a:off x="4697239" y="2901255"/>
            <a:ext cx="3776886" cy="649858"/>
          </a:xfrm>
          <a:prstGeom prst="roundRect">
            <a:avLst>
              <a:gd name="adj" fmla="val 13690"/>
            </a:avLst>
          </a:prstGeom>
          <a:solidFill>
            <a:srgbClr val="B5DAFC"/>
          </a:solidFill>
          <a:ln/>
        </p:spPr>
      </p:sp>
      <p:pic>
        <p:nvPicPr>
          <p:cNvPr id="11" name="Image 1" descr="preencoded.png"/>
          <p:cNvPicPr>
            <a:picLocks noChangeAspect="1"/>
          </p:cNvPicPr>
          <p:nvPr/>
        </p:nvPicPr>
        <p:blipFill>
          <a:blip r:embed="rId4"/>
          <a:stretch>
            <a:fillRect/>
          </a:stretch>
        </p:blipFill>
        <p:spPr>
          <a:xfrm>
            <a:off x="4796061" y="3043089"/>
            <a:ext cx="123527" cy="98822"/>
          </a:xfrm>
          <a:prstGeom prst="rect">
            <a:avLst/>
          </a:prstGeom>
        </p:spPr>
      </p:pic>
      <p:sp>
        <p:nvSpPr>
          <p:cNvPr id="12" name="Text 8"/>
          <p:cNvSpPr/>
          <p:nvPr/>
        </p:nvSpPr>
        <p:spPr>
          <a:xfrm>
            <a:off x="5018410" y="3004691"/>
            <a:ext cx="3356893" cy="426169"/>
          </a:xfrm>
          <a:prstGeom prst="rect">
            <a:avLst/>
          </a:prstGeom>
          <a:noFill/>
          <a:ln/>
        </p:spPr>
        <p:txBody>
          <a:bodyPr wrap="square" lIns="0" tIns="0" rIns="0" bIns="0" rtlCol="0" anchor="t"/>
          <a:lstStyle/>
          <a:p>
            <a:pPr marL="0" indent="0" algn="l">
              <a:lnSpc>
                <a:spcPts val="1100"/>
              </a:lnSpc>
              <a:buNone/>
            </a:pPr>
            <a:r>
              <a:rPr lang="en-US" sz="750" b="1" dirty="0">
                <a:solidFill>
                  <a:srgbClr val="000000"/>
                </a:solidFill>
                <a:latin typeface="Instrument Sans Medium" pitchFamily="34" charset="0"/>
                <a:ea typeface="Instrument Sans Medium" pitchFamily="34" charset="-122"/>
                <a:cs typeface="Instrument Sans Medium" pitchFamily="34" charset="-120"/>
              </a:rPr>
              <a:t>Key Quote:</a:t>
            </a:r>
            <a:r>
              <a:rPr lang="en-US" sz="750" dirty="0">
                <a:solidFill>
                  <a:srgbClr val="000000"/>
                </a:solidFill>
                <a:latin typeface="Instrument Sans Medium" pitchFamily="34" charset="0"/>
                <a:ea typeface="Instrument Sans Medium" pitchFamily="34" charset="-122"/>
                <a:cs typeface="Instrument Sans Medium" pitchFamily="34" charset="-120"/>
              </a:rPr>
              <a:t> </a:t>
            </a:r>
            <a:r>
              <a:rPr lang="en-US" sz="750" i="1" dirty="0">
                <a:solidFill>
                  <a:srgbClr val="000000"/>
                </a:solidFill>
                <a:latin typeface="Instrument Sans Medium" pitchFamily="34" charset="0"/>
                <a:ea typeface="Instrument Sans Medium" pitchFamily="34" charset="-122"/>
                <a:cs typeface="Instrument Sans Medium" pitchFamily="34" charset="-120"/>
              </a:rPr>
              <a:t>"For to be free is not merely to cast off one's chains, but to live in a way that respects and enhances the freedom of others."</a:t>
            </a:r>
            <a:r>
              <a:rPr lang="en-US" sz="750" dirty="0">
                <a:solidFill>
                  <a:srgbClr val="000000"/>
                </a:solidFill>
                <a:latin typeface="Instrument Sans Medium" pitchFamily="34" charset="0"/>
                <a:ea typeface="Instrument Sans Medium" pitchFamily="34" charset="-122"/>
                <a:cs typeface="Instrument Sans Medium" pitchFamily="34" charset="-120"/>
              </a:rPr>
              <a:t> — Nelson Mandela</a:t>
            </a:r>
            <a:endParaRPr lang="en-US" sz="750" dirty="0"/>
          </a:p>
        </p:txBody>
      </p:sp>
      <p:pic>
        <p:nvPicPr>
          <p:cNvPr id="13" name="Picture 12">
            <a:extLst>
              <a:ext uri="{FF2B5EF4-FFF2-40B4-BE49-F238E27FC236}">
                <a16:creationId xmlns:a16="http://schemas.microsoft.com/office/drawing/2014/main" id="{F30BED37-6E9C-C976-4BB8-9FDDDDFFC84F}"/>
              </a:ext>
            </a:extLst>
          </p:cNvPr>
          <p:cNvPicPr>
            <a:picLocks noChangeAspect="1"/>
          </p:cNvPicPr>
          <p:nvPr/>
        </p:nvPicPr>
        <p:blipFill>
          <a:blip r:embed="rId5"/>
          <a:stretch>
            <a:fillRect/>
          </a:stretch>
        </p:blipFill>
        <p:spPr>
          <a:xfrm>
            <a:off x="7934631" y="4861066"/>
            <a:ext cx="1159105" cy="2553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46546"/>
            <a:ext cx="695623" cy="233214"/>
          </a:xfrm>
          <a:prstGeom prst="roundRect">
            <a:avLst>
              <a:gd name="adj" fmla="val 38297"/>
            </a:avLst>
          </a:prstGeom>
          <a:solidFill>
            <a:srgbClr val="CEE6FD"/>
          </a:solidFill>
          <a:ln/>
        </p:spPr>
      </p:sp>
      <p:sp>
        <p:nvSpPr>
          <p:cNvPr id="3" name="Text 1"/>
          <p:cNvSpPr/>
          <p:nvPr/>
        </p:nvSpPr>
        <p:spPr>
          <a:xfrm>
            <a:off x="570533" y="383753"/>
            <a:ext cx="546795" cy="158800"/>
          </a:xfrm>
          <a:prstGeom prst="rect">
            <a:avLst/>
          </a:prstGeom>
          <a:noFill/>
          <a:ln/>
        </p:spPr>
        <p:txBody>
          <a:bodyPr wrap="none" lIns="0" tIns="0" rIns="0" bIns="0" rtlCol="0" anchor="t"/>
          <a:lstStyle/>
          <a:p>
            <a:pPr marL="0" indent="0" algn="l">
              <a:lnSpc>
                <a:spcPts val="12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CHAPTER 7</a:t>
            </a:r>
            <a:endParaRPr lang="en-US" sz="750" dirty="0"/>
          </a:p>
        </p:txBody>
      </p:sp>
      <p:sp>
        <p:nvSpPr>
          <p:cNvPr id="4" name="Text 2"/>
          <p:cNvSpPr/>
          <p:nvPr/>
        </p:nvSpPr>
        <p:spPr>
          <a:xfrm>
            <a:off x="496119" y="629320"/>
            <a:ext cx="5847011"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Release and Reconciliation: A New Dawn</a:t>
            </a:r>
            <a:endParaRPr lang="en-US" sz="2400" dirty="0"/>
          </a:p>
        </p:txBody>
      </p:sp>
      <p:sp>
        <p:nvSpPr>
          <p:cNvPr id="5" name="Text 3"/>
          <p:cNvSpPr/>
          <p:nvPr/>
        </p:nvSpPr>
        <p:spPr>
          <a:xfrm>
            <a:off x="496119" y="1202903"/>
            <a:ext cx="8151763"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On </a:t>
            </a:r>
            <a:r>
              <a:rPr lang="en-US" sz="950" b="1" dirty="0">
                <a:solidFill>
                  <a:srgbClr val="1E3063"/>
                </a:solidFill>
                <a:latin typeface="Instrument Sans Medium" pitchFamily="34" charset="0"/>
                <a:ea typeface="Instrument Sans Medium" pitchFamily="34" charset="-122"/>
                <a:cs typeface="Instrument Sans Medium" pitchFamily="34" charset="-120"/>
              </a:rPr>
              <a:t>February 11, 1990</a:t>
            </a:r>
            <a:r>
              <a:rPr lang="en-US" sz="950" dirty="0">
                <a:solidFill>
                  <a:srgbClr val="1E3063"/>
                </a:solidFill>
                <a:latin typeface="Instrument Sans Medium" pitchFamily="34" charset="0"/>
                <a:ea typeface="Instrument Sans Medium" pitchFamily="34" charset="-122"/>
                <a:cs typeface="Instrument Sans Medium" pitchFamily="34" charset="-120"/>
              </a:rPr>
              <a:t>, Nelson Mandela walked through the gates of Victor Verster Prison a free man. His release sent shockwaves of joy across the world. But Mandela's greatest work was yet to come — building a new, democratic South Africa.</a:t>
            </a:r>
            <a:endParaRPr lang="en-US" sz="950" dirty="0"/>
          </a:p>
        </p:txBody>
      </p:sp>
      <p:sp>
        <p:nvSpPr>
          <p:cNvPr id="6" name="Shape 4"/>
          <p:cNvSpPr/>
          <p:nvPr/>
        </p:nvSpPr>
        <p:spPr>
          <a:xfrm>
            <a:off x="496119" y="2900660"/>
            <a:ext cx="8151763" cy="14288"/>
          </a:xfrm>
          <a:prstGeom prst="roundRect">
            <a:avLst>
              <a:gd name="adj" fmla="val 781369"/>
            </a:avLst>
          </a:prstGeom>
          <a:solidFill>
            <a:srgbClr val="B4CCE3"/>
          </a:solidFill>
          <a:ln/>
        </p:spPr>
      </p:sp>
      <p:sp>
        <p:nvSpPr>
          <p:cNvPr id="7" name="Shape 5"/>
          <p:cNvSpPr/>
          <p:nvPr/>
        </p:nvSpPr>
        <p:spPr>
          <a:xfrm>
            <a:off x="2072804" y="2528590"/>
            <a:ext cx="14288" cy="372070"/>
          </a:xfrm>
          <a:prstGeom prst="roundRect">
            <a:avLst>
              <a:gd name="adj" fmla="val 781369"/>
            </a:avLst>
          </a:prstGeom>
          <a:solidFill>
            <a:srgbClr val="B4CCE3"/>
          </a:solidFill>
          <a:ln/>
        </p:spPr>
      </p:sp>
      <p:sp>
        <p:nvSpPr>
          <p:cNvPr id="8" name="Shape 6"/>
          <p:cNvSpPr/>
          <p:nvPr/>
        </p:nvSpPr>
        <p:spPr>
          <a:xfrm>
            <a:off x="1940421" y="2761134"/>
            <a:ext cx="279053" cy="279053"/>
          </a:xfrm>
          <a:prstGeom prst="roundRect">
            <a:avLst>
              <a:gd name="adj" fmla="val 40007"/>
            </a:avLst>
          </a:prstGeom>
          <a:solidFill>
            <a:srgbClr val="CEE6FD"/>
          </a:solidFill>
          <a:ln/>
        </p:spPr>
      </p:sp>
      <p:sp>
        <p:nvSpPr>
          <p:cNvPr id="9" name="Text 7"/>
          <p:cNvSpPr/>
          <p:nvPr/>
        </p:nvSpPr>
        <p:spPr>
          <a:xfrm>
            <a:off x="1986930" y="2784388"/>
            <a:ext cx="186035" cy="232544"/>
          </a:xfrm>
          <a:prstGeom prst="rect">
            <a:avLst/>
          </a:prstGeom>
          <a:noFill/>
          <a:ln/>
        </p:spPr>
        <p:txBody>
          <a:bodyPr wrap="none" lIns="0" tIns="0" rIns="0" bIns="0" rtlCol="0" anchor="ctr"/>
          <a:lstStyle/>
          <a:p>
            <a:pPr marL="0" indent="0" algn="ctr">
              <a:lnSpc>
                <a:spcPts val="145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1</a:t>
            </a:r>
            <a:endParaRPr lang="en-US" sz="1450" dirty="0"/>
          </a:p>
        </p:txBody>
      </p:sp>
      <p:sp>
        <p:nvSpPr>
          <p:cNvPr id="10" name="Text 8"/>
          <p:cNvSpPr/>
          <p:nvPr/>
        </p:nvSpPr>
        <p:spPr>
          <a:xfrm>
            <a:off x="1304627" y="1739354"/>
            <a:ext cx="1550566" cy="193849"/>
          </a:xfrm>
          <a:prstGeom prst="rect">
            <a:avLst/>
          </a:prstGeom>
          <a:noFill/>
          <a:ln/>
        </p:spPr>
        <p:txBody>
          <a:bodyPr wrap="none" lIns="0" tIns="0" rIns="0" bIns="0" rtlCol="0" anchor="t"/>
          <a:lstStyle/>
          <a:p>
            <a:pPr marL="0" indent="0" algn="ctr">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1990</a:t>
            </a:r>
            <a:endParaRPr lang="en-US" sz="1200" dirty="0"/>
          </a:p>
        </p:txBody>
      </p:sp>
      <p:sp>
        <p:nvSpPr>
          <p:cNvPr id="11" name="Text 9"/>
          <p:cNvSpPr/>
          <p:nvPr/>
        </p:nvSpPr>
        <p:spPr>
          <a:xfrm>
            <a:off x="620092" y="2007617"/>
            <a:ext cx="2919710" cy="396925"/>
          </a:xfrm>
          <a:prstGeom prst="rect">
            <a:avLst/>
          </a:prstGeom>
          <a:noFill/>
          <a:ln/>
        </p:spPr>
        <p:txBody>
          <a:bodyPr wrap="square" lIns="0" tIns="0" rIns="0" bIns="0" rtlCol="0" anchor="t"/>
          <a:lstStyle/>
          <a:p>
            <a:pPr marL="0" indent="0" algn="ctr">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Mandela released. ANC unbanned. Negotiations for democracy begin.</a:t>
            </a:r>
            <a:endParaRPr lang="en-US" sz="950" dirty="0"/>
          </a:p>
        </p:txBody>
      </p:sp>
      <p:sp>
        <p:nvSpPr>
          <p:cNvPr id="12" name="Shape 10"/>
          <p:cNvSpPr/>
          <p:nvPr/>
        </p:nvSpPr>
        <p:spPr>
          <a:xfrm>
            <a:off x="3734098" y="2900660"/>
            <a:ext cx="14288" cy="372070"/>
          </a:xfrm>
          <a:prstGeom prst="roundRect">
            <a:avLst>
              <a:gd name="adj" fmla="val 781369"/>
            </a:avLst>
          </a:prstGeom>
          <a:solidFill>
            <a:srgbClr val="B4CCE3"/>
          </a:solidFill>
          <a:ln/>
        </p:spPr>
      </p:sp>
      <p:sp>
        <p:nvSpPr>
          <p:cNvPr id="13" name="Shape 11"/>
          <p:cNvSpPr/>
          <p:nvPr/>
        </p:nvSpPr>
        <p:spPr>
          <a:xfrm>
            <a:off x="3601715" y="2761134"/>
            <a:ext cx="279053" cy="279053"/>
          </a:xfrm>
          <a:prstGeom prst="roundRect">
            <a:avLst>
              <a:gd name="adj" fmla="val 40007"/>
            </a:avLst>
          </a:prstGeom>
          <a:solidFill>
            <a:srgbClr val="CEE6FD"/>
          </a:solidFill>
          <a:ln/>
        </p:spPr>
      </p:sp>
      <p:sp>
        <p:nvSpPr>
          <p:cNvPr id="14" name="Text 12"/>
          <p:cNvSpPr/>
          <p:nvPr/>
        </p:nvSpPr>
        <p:spPr>
          <a:xfrm>
            <a:off x="3648224" y="2784388"/>
            <a:ext cx="186035" cy="232544"/>
          </a:xfrm>
          <a:prstGeom prst="rect">
            <a:avLst/>
          </a:prstGeom>
          <a:noFill/>
          <a:ln/>
        </p:spPr>
        <p:txBody>
          <a:bodyPr wrap="none" lIns="0" tIns="0" rIns="0" bIns="0" rtlCol="0" anchor="ctr"/>
          <a:lstStyle/>
          <a:p>
            <a:pPr marL="0" indent="0" algn="ctr">
              <a:lnSpc>
                <a:spcPts val="145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2</a:t>
            </a:r>
            <a:endParaRPr lang="en-US" sz="1450" dirty="0"/>
          </a:p>
        </p:txBody>
      </p:sp>
      <p:sp>
        <p:nvSpPr>
          <p:cNvPr id="15" name="Text 13"/>
          <p:cNvSpPr/>
          <p:nvPr/>
        </p:nvSpPr>
        <p:spPr>
          <a:xfrm>
            <a:off x="2965996" y="3396779"/>
            <a:ext cx="1550566" cy="193849"/>
          </a:xfrm>
          <a:prstGeom prst="rect">
            <a:avLst/>
          </a:prstGeom>
          <a:noFill/>
          <a:ln/>
        </p:spPr>
        <p:txBody>
          <a:bodyPr wrap="none" lIns="0" tIns="0" rIns="0" bIns="0" rtlCol="0" anchor="t"/>
          <a:lstStyle/>
          <a:p>
            <a:pPr marL="0" indent="0" algn="ctr">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1993</a:t>
            </a:r>
            <a:endParaRPr lang="en-US" sz="1200" dirty="0"/>
          </a:p>
        </p:txBody>
      </p:sp>
      <p:sp>
        <p:nvSpPr>
          <p:cNvPr id="16" name="Text 14"/>
          <p:cNvSpPr/>
          <p:nvPr/>
        </p:nvSpPr>
        <p:spPr>
          <a:xfrm>
            <a:off x="2281386" y="3665041"/>
            <a:ext cx="2919785" cy="396925"/>
          </a:xfrm>
          <a:prstGeom prst="rect">
            <a:avLst/>
          </a:prstGeom>
          <a:noFill/>
          <a:ln/>
        </p:spPr>
        <p:txBody>
          <a:bodyPr wrap="square" lIns="0" tIns="0" rIns="0" bIns="0" rtlCol="0" anchor="t"/>
          <a:lstStyle/>
          <a:p>
            <a:pPr marL="0" indent="0" algn="ctr">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Mandela and de Klerk awarded the Nobel Peace Prize for peaceful transition.</a:t>
            </a:r>
            <a:endParaRPr lang="en-US" sz="950" dirty="0"/>
          </a:p>
        </p:txBody>
      </p:sp>
      <p:sp>
        <p:nvSpPr>
          <p:cNvPr id="17" name="Shape 15"/>
          <p:cNvSpPr/>
          <p:nvPr/>
        </p:nvSpPr>
        <p:spPr>
          <a:xfrm>
            <a:off x="5395466" y="2528590"/>
            <a:ext cx="14288" cy="372070"/>
          </a:xfrm>
          <a:prstGeom prst="roundRect">
            <a:avLst>
              <a:gd name="adj" fmla="val 781369"/>
            </a:avLst>
          </a:prstGeom>
          <a:solidFill>
            <a:srgbClr val="B4CCE3"/>
          </a:solidFill>
          <a:ln/>
        </p:spPr>
      </p:sp>
      <p:sp>
        <p:nvSpPr>
          <p:cNvPr id="18" name="Shape 16"/>
          <p:cNvSpPr/>
          <p:nvPr/>
        </p:nvSpPr>
        <p:spPr>
          <a:xfrm>
            <a:off x="5263083" y="2761134"/>
            <a:ext cx="279053" cy="279053"/>
          </a:xfrm>
          <a:prstGeom prst="roundRect">
            <a:avLst>
              <a:gd name="adj" fmla="val 40007"/>
            </a:avLst>
          </a:prstGeom>
          <a:solidFill>
            <a:srgbClr val="CEE6FD"/>
          </a:solidFill>
          <a:ln/>
        </p:spPr>
      </p:sp>
      <p:sp>
        <p:nvSpPr>
          <p:cNvPr id="19" name="Text 17"/>
          <p:cNvSpPr/>
          <p:nvPr/>
        </p:nvSpPr>
        <p:spPr>
          <a:xfrm>
            <a:off x="5309592" y="2784388"/>
            <a:ext cx="186035" cy="232544"/>
          </a:xfrm>
          <a:prstGeom prst="rect">
            <a:avLst/>
          </a:prstGeom>
          <a:noFill/>
          <a:ln/>
        </p:spPr>
        <p:txBody>
          <a:bodyPr wrap="none" lIns="0" tIns="0" rIns="0" bIns="0" rtlCol="0" anchor="ctr"/>
          <a:lstStyle/>
          <a:p>
            <a:pPr marL="0" indent="0" algn="ctr">
              <a:lnSpc>
                <a:spcPts val="145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3</a:t>
            </a:r>
            <a:endParaRPr lang="en-US" sz="1450" dirty="0"/>
          </a:p>
        </p:txBody>
      </p:sp>
      <p:sp>
        <p:nvSpPr>
          <p:cNvPr id="20" name="Text 18"/>
          <p:cNvSpPr/>
          <p:nvPr/>
        </p:nvSpPr>
        <p:spPr>
          <a:xfrm>
            <a:off x="4627364" y="1739354"/>
            <a:ext cx="1550566" cy="193849"/>
          </a:xfrm>
          <a:prstGeom prst="rect">
            <a:avLst/>
          </a:prstGeom>
          <a:noFill/>
          <a:ln/>
        </p:spPr>
        <p:txBody>
          <a:bodyPr wrap="none" lIns="0" tIns="0" rIns="0" bIns="0" rtlCol="0" anchor="t"/>
          <a:lstStyle/>
          <a:p>
            <a:pPr marL="0" indent="0" algn="ctr">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1994</a:t>
            </a:r>
            <a:endParaRPr lang="en-US" sz="1200" dirty="0"/>
          </a:p>
        </p:txBody>
      </p:sp>
      <p:sp>
        <p:nvSpPr>
          <p:cNvPr id="21" name="Text 19"/>
          <p:cNvSpPr/>
          <p:nvPr/>
        </p:nvSpPr>
        <p:spPr>
          <a:xfrm>
            <a:off x="3942755" y="2007617"/>
            <a:ext cx="2919785" cy="396925"/>
          </a:xfrm>
          <a:prstGeom prst="rect">
            <a:avLst/>
          </a:prstGeom>
          <a:noFill/>
          <a:ln/>
        </p:spPr>
        <p:txBody>
          <a:bodyPr wrap="square" lIns="0" tIns="0" rIns="0" bIns="0" rtlCol="0" anchor="t"/>
          <a:lstStyle/>
          <a:p>
            <a:pPr marL="0" indent="0" algn="ctr">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South Africa's first democratic election. Mandela becomes President.</a:t>
            </a:r>
            <a:endParaRPr lang="en-US" sz="950" dirty="0"/>
          </a:p>
        </p:txBody>
      </p:sp>
      <p:sp>
        <p:nvSpPr>
          <p:cNvPr id="22" name="Shape 20"/>
          <p:cNvSpPr/>
          <p:nvPr/>
        </p:nvSpPr>
        <p:spPr>
          <a:xfrm>
            <a:off x="7056834" y="2900660"/>
            <a:ext cx="14288" cy="372070"/>
          </a:xfrm>
          <a:prstGeom prst="roundRect">
            <a:avLst>
              <a:gd name="adj" fmla="val 781369"/>
            </a:avLst>
          </a:prstGeom>
          <a:solidFill>
            <a:srgbClr val="B4CCE3"/>
          </a:solidFill>
          <a:ln/>
        </p:spPr>
      </p:sp>
      <p:sp>
        <p:nvSpPr>
          <p:cNvPr id="23" name="Shape 21"/>
          <p:cNvSpPr/>
          <p:nvPr/>
        </p:nvSpPr>
        <p:spPr>
          <a:xfrm>
            <a:off x="6924452" y="2761134"/>
            <a:ext cx="279053" cy="279053"/>
          </a:xfrm>
          <a:prstGeom prst="roundRect">
            <a:avLst>
              <a:gd name="adj" fmla="val 40007"/>
            </a:avLst>
          </a:prstGeom>
          <a:solidFill>
            <a:srgbClr val="CEE6FD"/>
          </a:solidFill>
          <a:ln/>
        </p:spPr>
      </p:sp>
      <p:sp>
        <p:nvSpPr>
          <p:cNvPr id="24" name="Text 22"/>
          <p:cNvSpPr/>
          <p:nvPr/>
        </p:nvSpPr>
        <p:spPr>
          <a:xfrm>
            <a:off x="6970961" y="2784388"/>
            <a:ext cx="186035" cy="232544"/>
          </a:xfrm>
          <a:prstGeom prst="rect">
            <a:avLst/>
          </a:prstGeom>
          <a:noFill/>
          <a:ln/>
        </p:spPr>
        <p:txBody>
          <a:bodyPr wrap="none" lIns="0" tIns="0" rIns="0" bIns="0" rtlCol="0" anchor="ctr"/>
          <a:lstStyle/>
          <a:p>
            <a:pPr marL="0" indent="0" algn="ctr">
              <a:lnSpc>
                <a:spcPts val="1450"/>
              </a:lnSpc>
              <a:buNone/>
            </a:pPr>
            <a:r>
              <a:rPr lang="en-US" sz="1450" dirty="0">
                <a:solidFill>
                  <a:srgbClr val="1E3063"/>
                </a:solidFill>
                <a:latin typeface="Instrument Sans Semi Bold" pitchFamily="34" charset="0"/>
                <a:ea typeface="Instrument Sans Semi Bold" pitchFamily="34" charset="-122"/>
                <a:cs typeface="Instrument Sans Semi Bold" pitchFamily="34" charset="-120"/>
              </a:rPr>
              <a:t>4</a:t>
            </a:r>
            <a:endParaRPr lang="en-US" sz="1450" dirty="0"/>
          </a:p>
        </p:txBody>
      </p:sp>
      <p:sp>
        <p:nvSpPr>
          <p:cNvPr id="25" name="Text 23"/>
          <p:cNvSpPr/>
          <p:nvPr/>
        </p:nvSpPr>
        <p:spPr>
          <a:xfrm>
            <a:off x="6288732" y="3396779"/>
            <a:ext cx="1550566" cy="193849"/>
          </a:xfrm>
          <a:prstGeom prst="rect">
            <a:avLst/>
          </a:prstGeom>
          <a:noFill/>
          <a:ln/>
        </p:spPr>
        <p:txBody>
          <a:bodyPr wrap="none" lIns="0" tIns="0" rIns="0" bIns="0" rtlCol="0" anchor="t"/>
          <a:lstStyle/>
          <a:p>
            <a:pPr marL="0" indent="0" algn="ctr">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1995</a:t>
            </a:r>
            <a:endParaRPr lang="en-US" sz="1200" dirty="0"/>
          </a:p>
        </p:txBody>
      </p:sp>
      <p:sp>
        <p:nvSpPr>
          <p:cNvPr id="26" name="Text 24"/>
          <p:cNvSpPr/>
          <p:nvPr/>
        </p:nvSpPr>
        <p:spPr>
          <a:xfrm>
            <a:off x="5604123" y="3665041"/>
            <a:ext cx="2919785" cy="396925"/>
          </a:xfrm>
          <a:prstGeom prst="rect">
            <a:avLst/>
          </a:prstGeom>
          <a:noFill/>
          <a:ln/>
        </p:spPr>
        <p:txBody>
          <a:bodyPr wrap="square" lIns="0" tIns="0" rIns="0" bIns="0" rtlCol="0" anchor="t"/>
          <a:lstStyle/>
          <a:p>
            <a:pPr marL="0" indent="0" algn="ctr">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Truth and Reconciliation Commission established under Archbishop Desmond Tutu.</a:t>
            </a:r>
            <a:endParaRPr lang="en-US" sz="950" dirty="0"/>
          </a:p>
        </p:txBody>
      </p:sp>
      <p:sp>
        <p:nvSpPr>
          <p:cNvPr id="27" name="Text 25"/>
          <p:cNvSpPr/>
          <p:nvPr/>
        </p:nvSpPr>
        <p:spPr>
          <a:xfrm>
            <a:off x="496119" y="4201492"/>
            <a:ext cx="8151763" cy="595387"/>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The </a:t>
            </a:r>
            <a:r>
              <a:rPr lang="en-US" sz="950" b="1" dirty="0">
                <a:solidFill>
                  <a:srgbClr val="1E3063"/>
                </a:solidFill>
                <a:latin typeface="Instrument Sans Medium" pitchFamily="34" charset="0"/>
                <a:ea typeface="Instrument Sans Medium" pitchFamily="34" charset="-122"/>
                <a:cs typeface="Instrument Sans Medium" pitchFamily="34" charset="-120"/>
              </a:rPr>
              <a:t>Truth and Reconciliation Commission (TRC)</a:t>
            </a:r>
            <a:r>
              <a:rPr lang="en-US" sz="950" dirty="0">
                <a:solidFill>
                  <a:srgbClr val="1E3063"/>
                </a:solidFill>
                <a:latin typeface="Instrument Sans Medium" pitchFamily="34" charset="0"/>
                <a:ea typeface="Instrument Sans Medium" pitchFamily="34" charset="-122"/>
                <a:cs typeface="Instrument Sans Medium" pitchFamily="34" charset="-120"/>
              </a:rPr>
              <a:t> was revolutionary — instead of punishing apartheid-era crimes through vengeance, it offered amnesty in exchange for truth. Victims were given a voice. It was a bold experiment in restorative justice that the world watched with awe.</a:t>
            </a:r>
            <a:endParaRPr lang="en-US" sz="950" dirty="0"/>
          </a:p>
        </p:txBody>
      </p:sp>
      <p:pic>
        <p:nvPicPr>
          <p:cNvPr id="28" name="Picture 27">
            <a:extLst>
              <a:ext uri="{FF2B5EF4-FFF2-40B4-BE49-F238E27FC236}">
                <a16:creationId xmlns:a16="http://schemas.microsoft.com/office/drawing/2014/main" id="{4F9879D8-B594-B0A7-8C47-4731E0BC56B5}"/>
              </a:ext>
            </a:extLst>
          </p:cNvPr>
          <p:cNvPicPr>
            <a:picLocks noChangeAspect="1"/>
          </p:cNvPicPr>
          <p:nvPr/>
        </p:nvPicPr>
        <p:blipFill>
          <a:blip r:embed="rId3"/>
          <a:stretch>
            <a:fillRect/>
          </a:stretch>
        </p:blipFill>
        <p:spPr>
          <a:xfrm>
            <a:off x="7934631" y="4861066"/>
            <a:ext cx="1159105" cy="25533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909414"/>
            <a:ext cx="544934" cy="233214"/>
          </a:xfrm>
          <a:prstGeom prst="roundRect">
            <a:avLst>
              <a:gd name="adj" fmla="val 38297"/>
            </a:avLst>
          </a:prstGeom>
          <a:solidFill>
            <a:srgbClr val="CEE6FD"/>
          </a:solidFill>
          <a:ln/>
        </p:spPr>
      </p:sp>
      <p:sp>
        <p:nvSpPr>
          <p:cNvPr id="3" name="Text 1"/>
          <p:cNvSpPr/>
          <p:nvPr/>
        </p:nvSpPr>
        <p:spPr>
          <a:xfrm>
            <a:off x="570533" y="946621"/>
            <a:ext cx="396106" cy="158800"/>
          </a:xfrm>
          <a:prstGeom prst="rect">
            <a:avLst/>
          </a:prstGeom>
          <a:noFill/>
          <a:ln/>
        </p:spPr>
        <p:txBody>
          <a:bodyPr wrap="none" lIns="0" tIns="0" rIns="0" bIns="0" rtlCol="0" anchor="t"/>
          <a:lstStyle/>
          <a:p>
            <a:pPr marL="0" indent="0" algn="l">
              <a:lnSpc>
                <a:spcPts val="1250"/>
              </a:lnSpc>
              <a:buNone/>
            </a:pPr>
            <a:r>
              <a:rPr lang="en-US" sz="750" dirty="0">
                <a:solidFill>
                  <a:srgbClr val="1E3063"/>
                </a:solidFill>
                <a:latin typeface="Instrument Sans Medium" pitchFamily="34" charset="0"/>
                <a:ea typeface="Instrument Sans Medium" pitchFamily="34" charset="-122"/>
                <a:cs typeface="Instrument Sans Medium" pitchFamily="34" charset="-120"/>
              </a:rPr>
              <a:t>LEGACY</a:t>
            </a:r>
            <a:endParaRPr lang="en-US" sz="750" dirty="0"/>
          </a:p>
        </p:txBody>
      </p:sp>
      <p:sp>
        <p:nvSpPr>
          <p:cNvPr id="4" name="Text 2"/>
          <p:cNvSpPr/>
          <p:nvPr/>
        </p:nvSpPr>
        <p:spPr>
          <a:xfrm>
            <a:off x="496119" y="1192188"/>
            <a:ext cx="6644804"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Legacy of Emancipation: A Continent Inspired</a:t>
            </a:r>
            <a:endParaRPr lang="en-US" sz="2400" dirty="0"/>
          </a:p>
        </p:txBody>
      </p:sp>
      <p:sp>
        <p:nvSpPr>
          <p:cNvPr id="5" name="Text 3"/>
          <p:cNvSpPr/>
          <p:nvPr/>
        </p:nvSpPr>
        <p:spPr>
          <a:xfrm>
            <a:off x="496119" y="1765771"/>
            <a:ext cx="8151763"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Nelson Mandela's struggle did not just free South Africa — it ignited a flame of hope across the entire African continent and beyond. His life proved that </a:t>
            </a:r>
            <a:r>
              <a:rPr lang="en-US" sz="950" b="1" dirty="0">
                <a:solidFill>
                  <a:srgbClr val="1E3063"/>
                </a:solidFill>
                <a:latin typeface="Instrument Sans Medium" pitchFamily="34" charset="0"/>
                <a:ea typeface="Instrument Sans Medium" pitchFamily="34" charset="-122"/>
                <a:cs typeface="Instrument Sans Medium" pitchFamily="34" charset="-120"/>
              </a:rPr>
              <a:t>dignity, forgiveness, and reconciliation</a:t>
            </a:r>
            <a:r>
              <a:rPr lang="en-US" sz="950" dirty="0">
                <a:solidFill>
                  <a:srgbClr val="1E3063"/>
                </a:solidFill>
                <a:latin typeface="Instrument Sans Medium" pitchFamily="34" charset="0"/>
                <a:ea typeface="Instrument Sans Medium" pitchFamily="34" charset="-122"/>
                <a:cs typeface="Instrument Sans Medium" pitchFamily="34" charset="-120"/>
              </a:rPr>
              <a:t> are more powerful than hatred and revenge.</a:t>
            </a:r>
            <a:endParaRPr lang="en-US" sz="950" dirty="0"/>
          </a:p>
        </p:txBody>
      </p:sp>
      <p:sp>
        <p:nvSpPr>
          <p:cNvPr id="6" name="Shape 4"/>
          <p:cNvSpPr/>
          <p:nvPr/>
        </p:nvSpPr>
        <p:spPr>
          <a:xfrm>
            <a:off x="496119" y="2302222"/>
            <a:ext cx="2634555" cy="1314822"/>
          </a:xfrm>
          <a:prstGeom prst="roundRect">
            <a:avLst>
              <a:gd name="adj" fmla="val 8491"/>
            </a:avLst>
          </a:prstGeom>
          <a:solidFill>
            <a:srgbClr val="CEE6FD"/>
          </a:solidFill>
          <a:ln/>
        </p:spPr>
      </p:sp>
      <p:sp>
        <p:nvSpPr>
          <p:cNvPr id="7" name="Text 5"/>
          <p:cNvSpPr/>
          <p:nvPr/>
        </p:nvSpPr>
        <p:spPr>
          <a:xfrm>
            <a:off x="620092" y="2426196"/>
            <a:ext cx="1895773"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Instrument Sans Semi Bold" pitchFamily="34" charset="0"/>
                <a:ea typeface="Instrument Sans Semi Bold" pitchFamily="34" charset="-122"/>
                <a:cs typeface="Instrument Sans Semi Bold" pitchFamily="34" charset="-120"/>
              </a:rPr>
              <a:t>🌍</a:t>
            </a:r>
            <a:r>
              <a:rPr lang="en-US" sz="1200" dirty="0">
                <a:solidFill>
                  <a:srgbClr val="1E3063"/>
                </a:solidFill>
                <a:latin typeface="Instrument Sans Semi Bold" pitchFamily="34" charset="0"/>
                <a:ea typeface="Instrument Sans Semi Bold" pitchFamily="34" charset="-122"/>
                <a:cs typeface="Instrument Sans Semi Bold" pitchFamily="34" charset="-120"/>
              </a:rPr>
              <a:t> Continental Inspiration</a:t>
            </a:r>
            <a:endParaRPr lang="en-US" sz="1200" dirty="0"/>
          </a:p>
        </p:txBody>
      </p:sp>
      <p:sp>
        <p:nvSpPr>
          <p:cNvPr id="8" name="Text 6"/>
          <p:cNvSpPr/>
          <p:nvPr/>
        </p:nvSpPr>
        <p:spPr>
          <a:xfrm>
            <a:off x="620092" y="2699221"/>
            <a:ext cx="2386608"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Mandela's example inspired liberation movements and democratic transitions across Africa, from Zimbabwe to Nigeria to Rwanda's post-genocide recovery.</a:t>
            </a:r>
            <a:endParaRPr lang="en-US" sz="950" dirty="0"/>
          </a:p>
        </p:txBody>
      </p:sp>
      <p:sp>
        <p:nvSpPr>
          <p:cNvPr id="9" name="Shape 7"/>
          <p:cNvSpPr/>
          <p:nvPr/>
        </p:nvSpPr>
        <p:spPr>
          <a:xfrm>
            <a:off x="3254648" y="2302222"/>
            <a:ext cx="2634630" cy="1314822"/>
          </a:xfrm>
          <a:prstGeom prst="roundRect">
            <a:avLst>
              <a:gd name="adj" fmla="val 8491"/>
            </a:avLst>
          </a:prstGeom>
          <a:solidFill>
            <a:srgbClr val="CEE6FD"/>
          </a:solidFill>
          <a:ln/>
        </p:spPr>
      </p:sp>
      <p:sp>
        <p:nvSpPr>
          <p:cNvPr id="10" name="Text 8"/>
          <p:cNvSpPr/>
          <p:nvPr/>
        </p:nvSpPr>
        <p:spPr>
          <a:xfrm>
            <a:off x="3378622" y="2426196"/>
            <a:ext cx="1601093"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Instrument Sans Semi Bold" pitchFamily="34" charset="0"/>
                <a:ea typeface="Instrument Sans Semi Bold" pitchFamily="34" charset="-122"/>
                <a:cs typeface="Instrument Sans Semi Bold" pitchFamily="34" charset="-120"/>
              </a:rPr>
              <a:t>⚖️</a:t>
            </a:r>
            <a:r>
              <a:rPr lang="en-US" sz="1200" dirty="0">
                <a:solidFill>
                  <a:srgbClr val="1E3063"/>
                </a:solidFill>
                <a:latin typeface="Instrument Sans Semi Bold" pitchFamily="34" charset="0"/>
                <a:ea typeface="Instrument Sans Semi Bold" pitchFamily="34" charset="-122"/>
                <a:cs typeface="Instrument Sans Semi Bold" pitchFamily="34" charset="-120"/>
              </a:rPr>
              <a:t> A Model for Justice</a:t>
            </a:r>
            <a:endParaRPr lang="en-US" sz="1200" dirty="0"/>
          </a:p>
        </p:txBody>
      </p:sp>
      <p:sp>
        <p:nvSpPr>
          <p:cNvPr id="11" name="Text 9"/>
          <p:cNvSpPr/>
          <p:nvPr/>
        </p:nvSpPr>
        <p:spPr>
          <a:xfrm>
            <a:off x="3378622" y="2699221"/>
            <a:ext cx="2386682"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The Truth and Reconciliation Commission became a global model for post-conflict societies seeking healing over vengeance.</a:t>
            </a:r>
            <a:endParaRPr lang="en-US" sz="950" dirty="0"/>
          </a:p>
        </p:txBody>
      </p:sp>
      <p:sp>
        <p:nvSpPr>
          <p:cNvPr id="12" name="Shape 10"/>
          <p:cNvSpPr/>
          <p:nvPr/>
        </p:nvSpPr>
        <p:spPr>
          <a:xfrm>
            <a:off x="6013252" y="2302222"/>
            <a:ext cx="2634555" cy="1314822"/>
          </a:xfrm>
          <a:prstGeom prst="roundRect">
            <a:avLst>
              <a:gd name="adj" fmla="val 8491"/>
            </a:avLst>
          </a:prstGeom>
          <a:solidFill>
            <a:srgbClr val="CEE6FD"/>
          </a:solidFill>
          <a:ln/>
        </p:spPr>
      </p:sp>
      <p:sp>
        <p:nvSpPr>
          <p:cNvPr id="13" name="Text 11"/>
          <p:cNvSpPr/>
          <p:nvPr/>
        </p:nvSpPr>
        <p:spPr>
          <a:xfrm>
            <a:off x="6137225" y="2426196"/>
            <a:ext cx="1783705" cy="198611"/>
          </a:xfrm>
          <a:prstGeom prst="rect">
            <a:avLst/>
          </a:prstGeom>
          <a:noFill/>
          <a:ln/>
        </p:spPr>
        <p:txBody>
          <a:bodyPr wrap="none" lIns="0" tIns="0" rIns="0" bIns="0" rtlCol="0" anchor="t"/>
          <a:lstStyle/>
          <a:p>
            <a:pPr marL="0" indent="0" algn="l">
              <a:lnSpc>
                <a:spcPts val="1500"/>
              </a:lnSpc>
              <a:buNone/>
            </a:pPr>
            <a:r>
              <a:rPr lang="en-US" sz="1200" dirty="0">
                <a:solidFill>
                  <a:srgbClr val="000000"/>
                </a:solidFill>
                <a:latin typeface="Instrument Sans Semi Bold" pitchFamily="34" charset="0"/>
                <a:ea typeface="Instrument Sans Semi Bold" pitchFamily="34" charset="-122"/>
                <a:cs typeface="Instrument Sans Semi Bold" pitchFamily="34" charset="-120"/>
              </a:rPr>
              <a:t>🔥</a:t>
            </a:r>
            <a:r>
              <a:rPr lang="en-US" sz="1200" dirty="0">
                <a:solidFill>
                  <a:srgbClr val="1E3063"/>
                </a:solidFill>
                <a:latin typeface="Instrument Sans Semi Bold" pitchFamily="34" charset="0"/>
                <a:ea typeface="Instrument Sans Semi Bold" pitchFamily="34" charset="-122"/>
                <a:cs typeface="Instrument Sans Semi Bold" pitchFamily="34" charset="-120"/>
              </a:rPr>
              <a:t> The Ongoing Journey</a:t>
            </a:r>
            <a:endParaRPr lang="en-US" sz="1200" dirty="0"/>
          </a:p>
        </p:txBody>
      </p:sp>
      <p:sp>
        <p:nvSpPr>
          <p:cNvPr id="14" name="Text 12"/>
          <p:cNvSpPr/>
          <p:nvPr/>
        </p:nvSpPr>
        <p:spPr>
          <a:xfrm>
            <a:off x="6137225" y="2699221"/>
            <a:ext cx="2386608" cy="793849"/>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Post-emancipation Africa still faces poverty, inequality, and corruption — but the foundation Mandela helped build endures. The walk to freedom continues.</a:t>
            </a:r>
            <a:endParaRPr lang="en-US" sz="950" dirty="0"/>
          </a:p>
        </p:txBody>
      </p:sp>
      <p:sp>
        <p:nvSpPr>
          <p:cNvPr id="15" name="Text 13"/>
          <p:cNvSpPr/>
          <p:nvPr/>
        </p:nvSpPr>
        <p:spPr>
          <a:xfrm>
            <a:off x="682154" y="3896097"/>
            <a:ext cx="7965728" cy="198462"/>
          </a:xfrm>
          <a:prstGeom prst="rect">
            <a:avLst/>
          </a:prstGeom>
          <a:noFill/>
          <a:ln/>
        </p:spPr>
        <p:txBody>
          <a:bodyPr wrap="none" lIns="0" tIns="0" rIns="0" bIns="0" rtlCol="0" anchor="t"/>
          <a:lstStyle/>
          <a:p>
            <a:pPr marL="0" indent="0" algn="l">
              <a:lnSpc>
                <a:spcPts val="1550"/>
              </a:lnSpc>
              <a:buNone/>
            </a:pPr>
            <a:r>
              <a:rPr lang="en-US" sz="950" i="1" dirty="0">
                <a:solidFill>
                  <a:srgbClr val="1E3063"/>
                </a:solidFill>
                <a:latin typeface="Instrument Sans Medium" pitchFamily="34" charset="0"/>
                <a:ea typeface="Instrument Sans Medium" pitchFamily="34" charset="-122"/>
                <a:cs typeface="Instrument Sans Medium" pitchFamily="34" charset="-120"/>
              </a:rPr>
              <a:t>"Let freedom reign. The sun never set on so glorious a human achievement."</a:t>
            </a:r>
            <a:r>
              <a:rPr lang="en-US" sz="950" dirty="0">
                <a:solidFill>
                  <a:srgbClr val="1E3063"/>
                </a:solidFill>
                <a:latin typeface="Instrument Sans Medium" pitchFamily="34" charset="0"/>
                <a:ea typeface="Instrument Sans Medium" pitchFamily="34" charset="-122"/>
                <a:cs typeface="Instrument Sans Medium" pitchFamily="34" charset="-120"/>
              </a:rPr>
              <a:t> — Nelson Mandela, May 10, 1994, Presidential Inauguration</a:t>
            </a:r>
            <a:endParaRPr lang="en-US" sz="950" dirty="0"/>
          </a:p>
        </p:txBody>
      </p:sp>
      <p:sp>
        <p:nvSpPr>
          <p:cNvPr id="16" name="Shape 14"/>
          <p:cNvSpPr/>
          <p:nvPr/>
        </p:nvSpPr>
        <p:spPr>
          <a:xfrm>
            <a:off x="496119" y="3756571"/>
            <a:ext cx="14288" cy="477515"/>
          </a:xfrm>
          <a:prstGeom prst="rect">
            <a:avLst/>
          </a:prstGeom>
          <a:solidFill>
            <a:srgbClr val="84C1FA"/>
          </a:solidFill>
          <a:ln/>
        </p:spPr>
      </p:sp>
      <p:pic>
        <p:nvPicPr>
          <p:cNvPr id="17" name="Picture 16">
            <a:extLst>
              <a:ext uri="{FF2B5EF4-FFF2-40B4-BE49-F238E27FC236}">
                <a16:creationId xmlns:a16="http://schemas.microsoft.com/office/drawing/2014/main" id="{53DC76A7-723B-F201-4591-75DB4B147247}"/>
              </a:ext>
            </a:extLst>
          </p:cNvPr>
          <p:cNvPicPr>
            <a:picLocks noChangeAspect="1"/>
          </p:cNvPicPr>
          <p:nvPr/>
        </p:nvPicPr>
        <p:blipFill>
          <a:blip r:embed="rId3"/>
          <a:stretch>
            <a:fillRect/>
          </a:stretch>
        </p:blipFill>
        <p:spPr>
          <a:xfrm>
            <a:off x="7934631" y="4861066"/>
            <a:ext cx="1159105" cy="25533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1069553"/>
            <a:ext cx="7153349"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Key Themes and Lessons from Mandela's Journey</a:t>
            </a:r>
            <a:endParaRPr lang="en-US" sz="2400" dirty="0"/>
          </a:p>
        </p:txBody>
      </p:sp>
      <p:sp>
        <p:nvSpPr>
          <p:cNvPr id="3" name="Shape 1"/>
          <p:cNvSpPr/>
          <p:nvPr/>
        </p:nvSpPr>
        <p:spPr>
          <a:xfrm>
            <a:off x="496119" y="1705124"/>
            <a:ext cx="2634555" cy="913135"/>
          </a:xfrm>
          <a:prstGeom prst="roundRect">
            <a:avLst>
              <a:gd name="adj" fmla="val 12226"/>
            </a:avLst>
          </a:prstGeom>
          <a:solidFill>
            <a:srgbClr val="CEE6FD"/>
          </a:solidFill>
          <a:ln/>
        </p:spPr>
      </p:sp>
      <p:sp>
        <p:nvSpPr>
          <p:cNvPr id="4" name="Text 2"/>
          <p:cNvSpPr/>
          <p:nvPr/>
        </p:nvSpPr>
        <p:spPr>
          <a:xfrm>
            <a:off x="620092" y="1829098"/>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Courage in Adversity</a:t>
            </a:r>
            <a:endParaRPr lang="en-US" sz="1200" dirty="0"/>
          </a:p>
        </p:txBody>
      </p:sp>
      <p:sp>
        <p:nvSpPr>
          <p:cNvPr id="5" name="Text 3"/>
          <p:cNvSpPr/>
          <p:nvPr/>
        </p:nvSpPr>
        <p:spPr>
          <a:xfrm>
            <a:off x="620092" y="2097360"/>
            <a:ext cx="2386608"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The willingness to sacrifice personal freedom for collective liberation</a:t>
            </a:r>
            <a:endParaRPr lang="en-US" sz="950" dirty="0"/>
          </a:p>
        </p:txBody>
      </p:sp>
      <p:sp>
        <p:nvSpPr>
          <p:cNvPr id="6" name="Shape 4"/>
          <p:cNvSpPr/>
          <p:nvPr/>
        </p:nvSpPr>
        <p:spPr>
          <a:xfrm>
            <a:off x="3254648" y="1705124"/>
            <a:ext cx="2634630" cy="913135"/>
          </a:xfrm>
          <a:prstGeom prst="roundRect">
            <a:avLst>
              <a:gd name="adj" fmla="val 12226"/>
            </a:avLst>
          </a:prstGeom>
          <a:solidFill>
            <a:srgbClr val="CEE6FD"/>
          </a:solidFill>
          <a:ln/>
        </p:spPr>
      </p:sp>
      <p:sp>
        <p:nvSpPr>
          <p:cNvPr id="7" name="Text 5"/>
          <p:cNvSpPr/>
          <p:nvPr/>
        </p:nvSpPr>
        <p:spPr>
          <a:xfrm>
            <a:off x="3378622" y="1829098"/>
            <a:ext cx="1552277"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Power of Forgiveness</a:t>
            </a:r>
            <a:endParaRPr lang="en-US" sz="1200" dirty="0"/>
          </a:p>
        </p:txBody>
      </p:sp>
      <p:sp>
        <p:nvSpPr>
          <p:cNvPr id="8" name="Text 6"/>
          <p:cNvSpPr/>
          <p:nvPr/>
        </p:nvSpPr>
        <p:spPr>
          <a:xfrm>
            <a:off x="3378622" y="2097360"/>
            <a:ext cx="2386682"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Choosing reconciliation over revenge, even after decades of suffering</a:t>
            </a:r>
            <a:endParaRPr lang="en-US" sz="950" dirty="0"/>
          </a:p>
        </p:txBody>
      </p:sp>
      <p:sp>
        <p:nvSpPr>
          <p:cNvPr id="9" name="Shape 7"/>
          <p:cNvSpPr/>
          <p:nvPr/>
        </p:nvSpPr>
        <p:spPr>
          <a:xfrm>
            <a:off x="6013252" y="1705124"/>
            <a:ext cx="2634555" cy="913135"/>
          </a:xfrm>
          <a:prstGeom prst="roundRect">
            <a:avLst>
              <a:gd name="adj" fmla="val 12226"/>
            </a:avLst>
          </a:prstGeom>
          <a:solidFill>
            <a:srgbClr val="CEE6FD"/>
          </a:solidFill>
          <a:ln/>
        </p:spPr>
      </p:sp>
      <p:sp>
        <p:nvSpPr>
          <p:cNvPr id="10" name="Text 8"/>
          <p:cNvSpPr/>
          <p:nvPr/>
        </p:nvSpPr>
        <p:spPr>
          <a:xfrm>
            <a:off x="6137225" y="1829098"/>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Unity and Solidarity</a:t>
            </a:r>
            <a:endParaRPr lang="en-US" sz="1200" dirty="0"/>
          </a:p>
        </p:txBody>
      </p:sp>
      <p:sp>
        <p:nvSpPr>
          <p:cNvPr id="11" name="Text 9"/>
          <p:cNvSpPr/>
          <p:nvPr/>
        </p:nvSpPr>
        <p:spPr>
          <a:xfrm>
            <a:off x="6137225" y="2097360"/>
            <a:ext cx="2386608"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How global movements and local resistance combined to defeat apartheid</a:t>
            </a:r>
            <a:endParaRPr lang="en-US" sz="950" dirty="0"/>
          </a:p>
        </p:txBody>
      </p:sp>
      <p:sp>
        <p:nvSpPr>
          <p:cNvPr id="12" name="Shape 10"/>
          <p:cNvSpPr/>
          <p:nvPr/>
        </p:nvSpPr>
        <p:spPr>
          <a:xfrm>
            <a:off x="496119" y="2742233"/>
            <a:ext cx="8151688" cy="714673"/>
          </a:xfrm>
          <a:prstGeom prst="roundRect">
            <a:avLst>
              <a:gd name="adj" fmla="val 15621"/>
            </a:avLst>
          </a:prstGeom>
          <a:solidFill>
            <a:srgbClr val="CEE6FD"/>
          </a:solidFill>
          <a:ln/>
        </p:spPr>
      </p:sp>
      <p:sp>
        <p:nvSpPr>
          <p:cNvPr id="13" name="Text 11"/>
          <p:cNvSpPr/>
          <p:nvPr/>
        </p:nvSpPr>
        <p:spPr>
          <a:xfrm>
            <a:off x="620092" y="2866206"/>
            <a:ext cx="1550566" cy="193849"/>
          </a:xfrm>
          <a:prstGeom prst="rect">
            <a:avLst/>
          </a:prstGeom>
          <a:noFill/>
          <a:ln/>
        </p:spPr>
        <p:txBody>
          <a:bodyPr wrap="none" lIns="0" tIns="0" rIns="0" bIns="0" rtlCol="0" anchor="t"/>
          <a:lstStyle/>
          <a:p>
            <a:pPr marL="0" indent="0" algn="l">
              <a:lnSpc>
                <a:spcPts val="1500"/>
              </a:lnSpc>
              <a:buNone/>
            </a:pPr>
            <a:r>
              <a:rPr lang="en-US" sz="1200" dirty="0">
                <a:solidFill>
                  <a:srgbClr val="1E3063"/>
                </a:solidFill>
                <a:latin typeface="Instrument Sans Semi Bold" pitchFamily="34" charset="0"/>
                <a:ea typeface="Instrument Sans Semi Bold" pitchFamily="34" charset="-122"/>
                <a:cs typeface="Instrument Sans Semi Bold" pitchFamily="34" charset="-120"/>
              </a:rPr>
              <a:t>Moral Leadership</a:t>
            </a:r>
            <a:endParaRPr lang="en-US" sz="1200" dirty="0"/>
          </a:p>
        </p:txBody>
      </p:sp>
      <p:sp>
        <p:nvSpPr>
          <p:cNvPr id="14" name="Text 12"/>
          <p:cNvSpPr/>
          <p:nvPr/>
        </p:nvSpPr>
        <p:spPr>
          <a:xfrm>
            <a:off x="620092" y="3134469"/>
            <a:ext cx="7903741" cy="198462"/>
          </a:xfrm>
          <a:prstGeom prst="rect">
            <a:avLst/>
          </a:prstGeom>
          <a:noFill/>
          <a:ln/>
        </p:spPr>
        <p:txBody>
          <a:bodyPr wrap="non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Leading by example and maintaining integrity under impossible circumstances</a:t>
            </a:r>
            <a:endParaRPr lang="en-US" sz="950" dirty="0"/>
          </a:p>
        </p:txBody>
      </p:sp>
      <p:sp>
        <p:nvSpPr>
          <p:cNvPr id="15" name="Text 13"/>
          <p:cNvSpPr/>
          <p:nvPr/>
        </p:nvSpPr>
        <p:spPr>
          <a:xfrm>
            <a:off x="682154" y="3735958"/>
            <a:ext cx="7965728" cy="198462"/>
          </a:xfrm>
          <a:prstGeom prst="rect">
            <a:avLst/>
          </a:prstGeom>
          <a:noFill/>
          <a:ln/>
        </p:spPr>
        <p:txBody>
          <a:bodyPr wrap="none" lIns="0" tIns="0" rIns="0" bIns="0" rtlCol="0" anchor="t"/>
          <a:lstStyle/>
          <a:p>
            <a:pPr marL="0" indent="0" algn="l">
              <a:lnSpc>
                <a:spcPts val="1550"/>
              </a:lnSpc>
              <a:buNone/>
            </a:pPr>
            <a:r>
              <a:rPr lang="en-US" sz="950" i="1" dirty="0">
                <a:solidFill>
                  <a:srgbClr val="1E3063"/>
                </a:solidFill>
                <a:latin typeface="Instrument Sans Medium" pitchFamily="34" charset="0"/>
                <a:ea typeface="Instrument Sans Medium" pitchFamily="34" charset="-122"/>
                <a:cs typeface="Instrument Sans Medium" pitchFamily="34" charset="-120"/>
              </a:rPr>
              <a:t>"The greatest glory in living lies not in never falling, but in rising every time we fall."</a:t>
            </a:r>
            <a:r>
              <a:rPr lang="en-US" sz="950" dirty="0">
                <a:solidFill>
                  <a:srgbClr val="1E3063"/>
                </a:solidFill>
                <a:latin typeface="Instrument Sans Medium" pitchFamily="34" charset="0"/>
                <a:ea typeface="Instrument Sans Medium" pitchFamily="34" charset="-122"/>
                <a:cs typeface="Instrument Sans Medium" pitchFamily="34" charset="-120"/>
              </a:rPr>
              <a:t> — Nelson Mandela</a:t>
            </a:r>
            <a:endParaRPr lang="en-US" sz="950" dirty="0"/>
          </a:p>
        </p:txBody>
      </p:sp>
      <p:sp>
        <p:nvSpPr>
          <p:cNvPr id="16" name="Shape 14"/>
          <p:cNvSpPr/>
          <p:nvPr/>
        </p:nvSpPr>
        <p:spPr>
          <a:xfrm>
            <a:off x="496119" y="3596432"/>
            <a:ext cx="14288" cy="477515"/>
          </a:xfrm>
          <a:prstGeom prst="rect">
            <a:avLst/>
          </a:prstGeom>
          <a:solidFill>
            <a:srgbClr val="84C1FA"/>
          </a:solidFill>
          <a:ln/>
        </p:spPr>
      </p:sp>
      <p:pic>
        <p:nvPicPr>
          <p:cNvPr id="17" name="Picture 16">
            <a:extLst>
              <a:ext uri="{FF2B5EF4-FFF2-40B4-BE49-F238E27FC236}">
                <a16:creationId xmlns:a16="http://schemas.microsoft.com/office/drawing/2014/main" id="{62557D6B-5CE3-92CF-B336-A7B886C4614A}"/>
              </a:ext>
            </a:extLst>
          </p:cNvPr>
          <p:cNvPicPr>
            <a:picLocks noChangeAspect="1"/>
          </p:cNvPicPr>
          <p:nvPr/>
        </p:nvPicPr>
        <p:blipFill>
          <a:blip r:embed="rId3"/>
          <a:stretch>
            <a:fillRect/>
          </a:stretch>
        </p:blipFill>
        <p:spPr>
          <a:xfrm>
            <a:off x="7934631" y="4861066"/>
            <a:ext cx="1159105" cy="2553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65162" y="319757"/>
            <a:ext cx="5629573" cy="363364"/>
          </a:xfrm>
          <a:prstGeom prst="rect">
            <a:avLst/>
          </a:prstGeom>
          <a:noFill/>
          <a:ln/>
        </p:spPr>
        <p:txBody>
          <a:bodyPr wrap="none" lIns="0" tIns="0" rIns="0" bIns="0" rtlCol="0" anchor="t"/>
          <a:lstStyle/>
          <a:p>
            <a:pPr marL="0" indent="0" algn="l">
              <a:lnSpc>
                <a:spcPts val="2850"/>
              </a:lnSpc>
              <a:buNone/>
            </a:pPr>
            <a:r>
              <a:rPr lang="en-US" sz="2250" dirty="0">
                <a:solidFill>
                  <a:srgbClr val="091C53"/>
                </a:solidFill>
                <a:latin typeface="Instrument Sans Semi Bold" pitchFamily="34" charset="0"/>
                <a:ea typeface="Instrument Sans Semi Bold" pitchFamily="34" charset="-122"/>
                <a:cs typeface="Instrument Sans Semi Bold" pitchFamily="34" charset="-120"/>
              </a:rPr>
              <a:t>Critical Analysis: Questions for Reflection</a:t>
            </a:r>
            <a:endParaRPr lang="en-US" sz="2250" dirty="0"/>
          </a:p>
        </p:txBody>
      </p:sp>
      <p:sp>
        <p:nvSpPr>
          <p:cNvPr id="3" name="Shape 1"/>
          <p:cNvSpPr/>
          <p:nvPr/>
        </p:nvSpPr>
        <p:spPr>
          <a:xfrm>
            <a:off x="465162" y="901154"/>
            <a:ext cx="8213675" cy="697706"/>
          </a:xfrm>
          <a:prstGeom prst="roundRect">
            <a:avLst>
              <a:gd name="adj" fmla="val 15001"/>
            </a:avLst>
          </a:prstGeom>
          <a:solidFill>
            <a:srgbClr val="FFFFFF"/>
          </a:solidFill>
          <a:ln w="14288">
            <a:solidFill>
              <a:srgbClr val="B4CCE3"/>
            </a:solidFill>
            <a:prstDash val="solid"/>
          </a:ln>
        </p:spPr>
      </p:sp>
      <p:sp>
        <p:nvSpPr>
          <p:cNvPr id="4" name="Shape 2"/>
          <p:cNvSpPr/>
          <p:nvPr/>
        </p:nvSpPr>
        <p:spPr>
          <a:xfrm>
            <a:off x="479450" y="915442"/>
            <a:ext cx="465162" cy="669131"/>
          </a:xfrm>
          <a:prstGeom prst="roundRect">
            <a:avLst>
              <a:gd name="adj" fmla="val 18815"/>
            </a:avLst>
          </a:prstGeom>
          <a:solidFill>
            <a:srgbClr val="CEE6FD"/>
          </a:solidFill>
          <a:ln/>
        </p:spPr>
      </p:sp>
      <p:sp>
        <p:nvSpPr>
          <p:cNvPr id="5" name="Text 3"/>
          <p:cNvSpPr/>
          <p:nvPr/>
        </p:nvSpPr>
        <p:spPr>
          <a:xfrm>
            <a:off x="624780" y="1140991"/>
            <a:ext cx="174427" cy="218033"/>
          </a:xfrm>
          <a:prstGeom prst="rect">
            <a:avLst/>
          </a:prstGeom>
          <a:noFill/>
          <a:ln/>
        </p:spPr>
        <p:txBody>
          <a:bodyPr wrap="none" lIns="0" tIns="0" rIns="0" bIns="0" rtlCol="0" anchor="ctr"/>
          <a:lstStyle/>
          <a:p>
            <a:pPr marL="0" indent="0" algn="ctr">
              <a:lnSpc>
                <a:spcPts val="13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1</a:t>
            </a:r>
            <a:endParaRPr lang="en-US" sz="1350" dirty="0"/>
          </a:p>
        </p:txBody>
      </p:sp>
      <p:sp>
        <p:nvSpPr>
          <p:cNvPr id="6" name="Text 4"/>
          <p:cNvSpPr/>
          <p:nvPr/>
        </p:nvSpPr>
        <p:spPr>
          <a:xfrm>
            <a:off x="1053629" y="1031677"/>
            <a:ext cx="6200105" cy="181645"/>
          </a:xfrm>
          <a:prstGeom prst="rect">
            <a:avLst/>
          </a:prstGeom>
          <a:noFill/>
          <a:ln/>
        </p:spPr>
        <p:txBody>
          <a:bodyPr wrap="none" lIns="0" tIns="0" rIns="0" bIns="0" rtlCol="0" anchor="t"/>
          <a:lstStyle/>
          <a:p>
            <a:pPr marL="0" indent="0" algn="l">
              <a:lnSpc>
                <a:spcPts val="1400"/>
              </a:lnSpc>
              <a:buNone/>
            </a:pPr>
            <a:r>
              <a:rPr lang="en-US" sz="1100" dirty="0">
                <a:solidFill>
                  <a:srgbClr val="1E3063"/>
                </a:solidFill>
                <a:latin typeface="Instrument Sans Semi Bold" pitchFamily="34" charset="0"/>
                <a:ea typeface="Instrument Sans Semi Bold" pitchFamily="34" charset="-122"/>
                <a:cs typeface="Instrument Sans Semi Bold" pitchFamily="34" charset="-120"/>
              </a:rPr>
              <a:t>How did Mandela's 27 years of imprisonment shape his vision for a democratic South Africa?</a:t>
            </a:r>
            <a:endParaRPr lang="en-US" sz="1100" dirty="0"/>
          </a:p>
        </p:txBody>
      </p:sp>
      <p:sp>
        <p:nvSpPr>
          <p:cNvPr id="7" name="Shape 5"/>
          <p:cNvSpPr/>
          <p:nvPr/>
        </p:nvSpPr>
        <p:spPr>
          <a:xfrm>
            <a:off x="465162" y="1707877"/>
            <a:ext cx="8213675" cy="697706"/>
          </a:xfrm>
          <a:prstGeom prst="roundRect">
            <a:avLst>
              <a:gd name="adj" fmla="val 15001"/>
            </a:avLst>
          </a:prstGeom>
          <a:solidFill>
            <a:srgbClr val="FFFFFF"/>
          </a:solidFill>
          <a:ln w="14288">
            <a:solidFill>
              <a:srgbClr val="B4CCE3"/>
            </a:solidFill>
            <a:prstDash val="solid"/>
          </a:ln>
        </p:spPr>
      </p:sp>
      <p:sp>
        <p:nvSpPr>
          <p:cNvPr id="8" name="Shape 6"/>
          <p:cNvSpPr/>
          <p:nvPr/>
        </p:nvSpPr>
        <p:spPr>
          <a:xfrm>
            <a:off x="479450" y="1722165"/>
            <a:ext cx="465162" cy="669131"/>
          </a:xfrm>
          <a:prstGeom prst="roundRect">
            <a:avLst>
              <a:gd name="adj" fmla="val 18815"/>
            </a:avLst>
          </a:prstGeom>
          <a:solidFill>
            <a:srgbClr val="CEE6FD"/>
          </a:solidFill>
          <a:ln/>
        </p:spPr>
      </p:sp>
      <p:sp>
        <p:nvSpPr>
          <p:cNvPr id="9" name="Text 7"/>
          <p:cNvSpPr/>
          <p:nvPr/>
        </p:nvSpPr>
        <p:spPr>
          <a:xfrm>
            <a:off x="624780" y="1947714"/>
            <a:ext cx="174427" cy="218033"/>
          </a:xfrm>
          <a:prstGeom prst="rect">
            <a:avLst/>
          </a:prstGeom>
          <a:noFill/>
          <a:ln/>
        </p:spPr>
        <p:txBody>
          <a:bodyPr wrap="none" lIns="0" tIns="0" rIns="0" bIns="0" rtlCol="0" anchor="ctr"/>
          <a:lstStyle/>
          <a:p>
            <a:pPr marL="0" indent="0" algn="ctr">
              <a:lnSpc>
                <a:spcPts val="13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2</a:t>
            </a:r>
            <a:endParaRPr lang="en-US" sz="1350" dirty="0"/>
          </a:p>
        </p:txBody>
      </p:sp>
      <p:sp>
        <p:nvSpPr>
          <p:cNvPr id="10" name="Text 8"/>
          <p:cNvSpPr/>
          <p:nvPr/>
        </p:nvSpPr>
        <p:spPr>
          <a:xfrm>
            <a:off x="1053629" y="1838399"/>
            <a:ext cx="7494687" cy="363289"/>
          </a:xfrm>
          <a:prstGeom prst="rect">
            <a:avLst/>
          </a:prstGeom>
          <a:noFill/>
          <a:ln/>
        </p:spPr>
        <p:txBody>
          <a:bodyPr wrap="square" lIns="0" tIns="0" rIns="0" bIns="0" rtlCol="0" anchor="t"/>
          <a:lstStyle/>
          <a:p>
            <a:pPr marL="0" indent="0" algn="l">
              <a:lnSpc>
                <a:spcPts val="1400"/>
              </a:lnSpc>
              <a:buNone/>
            </a:pPr>
            <a:r>
              <a:rPr lang="en-US" sz="1100" dirty="0">
                <a:solidFill>
                  <a:srgbClr val="1E3063"/>
                </a:solidFill>
                <a:latin typeface="Instrument Sans Semi Bold" pitchFamily="34" charset="0"/>
                <a:ea typeface="Instrument Sans Semi Bold" pitchFamily="34" charset="-122"/>
                <a:cs typeface="Instrument Sans Semi Bold" pitchFamily="34" charset="-120"/>
              </a:rPr>
              <a:t>Compare the strategies of violent and non-violent resistance in the anti-apartheid movement. Which was more effective?</a:t>
            </a:r>
            <a:endParaRPr lang="en-US" sz="1100" dirty="0"/>
          </a:p>
        </p:txBody>
      </p:sp>
      <p:sp>
        <p:nvSpPr>
          <p:cNvPr id="11" name="Shape 9"/>
          <p:cNvSpPr/>
          <p:nvPr/>
        </p:nvSpPr>
        <p:spPr>
          <a:xfrm>
            <a:off x="465162" y="2514600"/>
            <a:ext cx="8213675" cy="697706"/>
          </a:xfrm>
          <a:prstGeom prst="roundRect">
            <a:avLst>
              <a:gd name="adj" fmla="val 15001"/>
            </a:avLst>
          </a:prstGeom>
          <a:solidFill>
            <a:srgbClr val="FFFFFF"/>
          </a:solidFill>
          <a:ln w="14288">
            <a:solidFill>
              <a:srgbClr val="B4CCE3"/>
            </a:solidFill>
            <a:prstDash val="solid"/>
          </a:ln>
        </p:spPr>
      </p:sp>
      <p:sp>
        <p:nvSpPr>
          <p:cNvPr id="12" name="Shape 10"/>
          <p:cNvSpPr/>
          <p:nvPr/>
        </p:nvSpPr>
        <p:spPr>
          <a:xfrm>
            <a:off x="479450" y="2528888"/>
            <a:ext cx="465162" cy="669131"/>
          </a:xfrm>
          <a:prstGeom prst="roundRect">
            <a:avLst>
              <a:gd name="adj" fmla="val 18815"/>
            </a:avLst>
          </a:prstGeom>
          <a:solidFill>
            <a:srgbClr val="CEE6FD"/>
          </a:solidFill>
          <a:ln/>
        </p:spPr>
      </p:sp>
      <p:sp>
        <p:nvSpPr>
          <p:cNvPr id="13" name="Text 11"/>
          <p:cNvSpPr/>
          <p:nvPr/>
        </p:nvSpPr>
        <p:spPr>
          <a:xfrm>
            <a:off x="624780" y="2754437"/>
            <a:ext cx="174427" cy="218033"/>
          </a:xfrm>
          <a:prstGeom prst="rect">
            <a:avLst/>
          </a:prstGeom>
          <a:noFill/>
          <a:ln/>
        </p:spPr>
        <p:txBody>
          <a:bodyPr wrap="none" lIns="0" tIns="0" rIns="0" bIns="0" rtlCol="0" anchor="ctr"/>
          <a:lstStyle/>
          <a:p>
            <a:pPr marL="0" indent="0" algn="ctr">
              <a:lnSpc>
                <a:spcPts val="13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3</a:t>
            </a:r>
            <a:endParaRPr lang="en-US" sz="1350" dirty="0"/>
          </a:p>
        </p:txBody>
      </p:sp>
      <p:sp>
        <p:nvSpPr>
          <p:cNvPr id="14" name="Text 12"/>
          <p:cNvSpPr/>
          <p:nvPr/>
        </p:nvSpPr>
        <p:spPr>
          <a:xfrm>
            <a:off x="1053629" y="2645122"/>
            <a:ext cx="7494687" cy="363289"/>
          </a:xfrm>
          <a:prstGeom prst="rect">
            <a:avLst/>
          </a:prstGeom>
          <a:noFill/>
          <a:ln/>
        </p:spPr>
        <p:txBody>
          <a:bodyPr wrap="square" lIns="0" tIns="0" rIns="0" bIns="0" rtlCol="0" anchor="t"/>
          <a:lstStyle/>
          <a:p>
            <a:pPr marL="0" indent="0" algn="l">
              <a:lnSpc>
                <a:spcPts val="1400"/>
              </a:lnSpc>
              <a:buNone/>
            </a:pPr>
            <a:r>
              <a:rPr lang="en-US" sz="1100" dirty="0">
                <a:solidFill>
                  <a:srgbClr val="1E3063"/>
                </a:solidFill>
                <a:latin typeface="Instrument Sans Semi Bold" pitchFamily="34" charset="0"/>
                <a:ea typeface="Instrument Sans Semi Bold" pitchFamily="34" charset="-122"/>
                <a:cs typeface="Instrument Sans Semi Bold" pitchFamily="34" charset="-120"/>
              </a:rPr>
              <a:t>What role did international pressure play in ending apartheid? Could South Africa have changed without global support?</a:t>
            </a:r>
            <a:endParaRPr lang="en-US" sz="1100" dirty="0"/>
          </a:p>
        </p:txBody>
      </p:sp>
      <p:sp>
        <p:nvSpPr>
          <p:cNvPr id="15" name="Shape 13"/>
          <p:cNvSpPr/>
          <p:nvPr/>
        </p:nvSpPr>
        <p:spPr>
          <a:xfrm>
            <a:off x="465162" y="3321323"/>
            <a:ext cx="8213675" cy="697706"/>
          </a:xfrm>
          <a:prstGeom prst="roundRect">
            <a:avLst>
              <a:gd name="adj" fmla="val 15001"/>
            </a:avLst>
          </a:prstGeom>
          <a:solidFill>
            <a:srgbClr val="FFFFFF"/>
          </a:solidFill>
          <a:ln w="14288">
            <a:solidFill>
              <a:srgbClr val="B4CCE3"/>
            </a:solidFill>
            <a:prstDash val="solid"/>
          </a:ln>
        </p:spPr>
      </p:sp>
      <p:sp>
        <p:nvSpPr>
          <p:cNvPr id="16" name="Shape 14"/>
          <p:cNvSpPr/>
          <p:nvPr/>
        </p:nvSpPr>
        <p:spPr>
          <a:xfrm>
            <a:off x="479450" y="3335610"/>
            <a:ext cx="465162" cy="669131"/>
          </a:xfrm>
          <a:prstGeom prst="roundRect">
            <a:avLst>
              <a:gd name="adj" fmla="val 18815"/>
            </a:avLst>
          </a:prstGeom>
          <a:solidFill>
            <a:srgbClr val="CEE6FD"/>
          </a:solidFill>
          <a:ln/>
        </p:spPr>
      </p:sp>
      <p:sp>
        <p:nvSpPr>
          <p:cNvPr id="17" name="Text 15"/>
          <p:cNvSpPr/>
          <p:nvPr/>
        </p:nvSpPr>
        <p:spPr>
          <a:xfrm>
            <a:off x="624780" y="3561159"/>
            <a:ext cx="174427" cy="218033"/>
          </a:xfrm>
          <a:prstGeom prst="rect">
            <a:avLst/>
          </a:prstGeom>
          <a:noFill/>
          <a:ln/>
        </p:spPr>
        <p:txBody>
          <a:bodyPr wrap="none" lIns="0" tIns="0" rIns="0" bIns="0" rtlCol="0" anchor="ctr"/>
          <a:lstStyle/>
          <a:p>
            <a:pPr marL="0" indent="0" algn="ctr">
              <a:lnSpc>
                <a:spcPts val="13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4</a:t>
            </a:r>
            <a:endParaRPr lang="en-US" sz="1350" dirty="0"/>
          </a:p>
        </p:txBody>
      </p:sp>
      <p:sp>
        <p:nvSpPr>
          <p:cNvPr id="18" name="Text 16"/>
          <p:cNvSpPr/>
          <p:nvPr/>
        </p:nvSpPr>
        <p:spPr>
          <a:xfrm>
            <a:off x="1053629" y="3451845"/>
            <a:ext cx="7360295" cy="181645"/>
          </a:xfrm>
          <a:prstGeom prst="rect">
            <a:avLst/>
          </a:prstGeom>
          <a:noFill/>
          <a:ln/>
        </p:spPr>
        <p:txBody>
          <a:bodyPr wrap="none" lIns="0" tIns="0" rIns="0" bIns="0" rtlCol="0" anchor="t"/>
          <a:lstStyle/>
          <a:p>
            <a:pPr marL="0" indent="0" algn="l">
              <a:lnSpc>
                <a:spcPts val="1400"/>
              </a:lnSpc>
              <a:buNone/>
            </a:pPr>
            <a:r>
              <a:rPr lang="en-US" sz="1100" dirty="0">
                <a:solidFill>
                  <a:srgbClr val="1E3063"/>
                </a:solidFill>
                <a:latin typeface="Instrument Sans Semi Bold" pitchFamily="34" charset="0"/>
                <a:ea typeface="Instrument Sans Semi Bold" pitchFamily="34" charset="-122"/>
                <a:cs typeface="Instrument Sans Semi Bold" pitchFamily="34" charset="-120"/>
              </a:rPr>
              <a:t>How does the Truth and Reconciliation Commission challenge traditional notions of justice and punishment?</a:t>
            </a:r>
            <a:endParaRPr lang="en-US" sz="1100" dirty="0"/>
          </a:p>
        </p:txBody>
      </p:sp>
      <p:sp>
        <p:nvSpPr>
          <p:cNvPr id="19" name="Shape 17"/>
          <p:cNvSpPr/>
          <p:nvPr/>
        </p:nvSpPr>
        <p:spPr>
          <a:xfrm>
            <a:off x="465162" y="4128046"/>
            <a:ext cx="8213675" cy="697706"/>
          </a:xfrm>
          <a:prstGeom prst="roundRect">
            <a:avLst>
              <a:gd name="adj" fmla="val 15001"/>
            </a:avLst>
          </a:prstGeom>
          <a:solidFill>
            <a:srgbClr val="FFFFFF"/>
          </a:solidFill>
          <a:ln w="14288">
            <a:solidFill>
              <a:srgbClr val="B4CCE3"/>
            </a:solidFill>
            <a:prstDash val="solid"/>
          </a:ln>
        </p:spPr>
      </p:sp>
      <p:sp>
        <p:nvSpPr>
          <p:cNvPr id="20" name="Shape 18"/>
          <p:cNvSpPr/>
          <p:nvPr/>
        </p:nvSpPr>
        <p:spPr>
          <a:xfrm>
            <a:off x="479450" y="4142333"/>
            <a:ext cx="465162" cy="669131"/>
          </a:xfrm>
          <a:prstGeom prst="roundRect">
            <a:avLst>
              <a:gd name="adj" fmla="val 18815"/>
            </a:avLst>
          </a:prstGeom>
          <a:solidFill>
            <a:srgbClr val="CEE6FD"/>
          </a:solidFill>
          <a:ln/>
        </p:spPr>
      </p:sp>
      <p:sp>
        <p:nvSpPr>
          <p:cNvPr id="21" name="Text 19"/>
          <p:cNvSpPr/>
          <p:nvPr/>
        </p:nvSpPr>
        <p:spPr>
          <a:xfrm>
            <a:off x="624780" y="4367882"/>
            <a:ext cx="174427" cy="218033"/>
          </a:xfrm>
          <a:prstGeom prst="rect">
            <a:avLst/>
          </a:prstGeom>
          <a:noFill/>
          <a:ln/>
        </p:spPr>
        <p:txBody>
          <a:bodyPr wrap="none" lIns="0" tIns="0" rIns="0" bIns="0" rtlCol="0" anchor="ctr"/>
          <a:lstStyle/>
          <a:p>
            <a:pPr marL="0" indent="0" algn="ctr">
              <a:lnSpc>
                <a:spcPts val="1350"/>
              </a:lnSpc>
              <a:buNone/>
            </a:pPr>
            <a:r>
              <a:rPr lang="en-US" sz="1350" dirty="0">
                <a:solidFill>
                  <a:srgbClr val="1E3063"/>
                </a:solidFill>
                <a:latin typeface="Instrument Sans Semi Bold" pitchFamily="34" charset="0"/>
                <a:ea typeface="Instrument Sans Semi Bold" pitchFamily="34" charset="-122"/>
                <a:cs typeface="Instrument Sans Semi Bold" pitchFamily="34" charset="-120"/>
              </a:rPr>
              <a:t>5</a:t>
            </a:r>
            <a:endParaRPr lang="en-US" sz="1350" dirty="0"/>
          </a:p>
        </p:txBody>
      </p:sp>
      <p:sp>
        <p:nvSpPr>
          <p:cNvPr id="22" name="Text 20"/>
          <p:cNvSpPr/>
          <p:nvPr/>
        </p:nvSpPr>
        <p:spPr>
          <a:xfrm>
            <a:off x="1053629" y="4258568"/>
            <a:ext cx="5994797" cy="181645"/>
          </a:xfrm>
          <a:prstGeom prst="rect">
            <a:avLst/>
          </a:prstGeom>
          <a:noFill/>
          <a:ln/>
        </p:spPr>
        <p:txBody>
          <a:bodyPr wrap="none" lIns="0" tIns="0" rIns="0" bIns="0" rtlCol="0" anchor="t"/>
          <a:lstStyle/>
          <a:p>
            <a:pPr marL="0" indent="0" algn="l">
              <a:lnSpc>
                <a:spcPts val="1400"/>
              </a:lnSpc>
              <a:buNone/>
            </a:pPr>
            <a:r>
              <a:rPr lang="en-US" sz="1100" dirty="0">
                <a:solidFill>
                  <a:srgbClr val="1E3063"/>
                </a:solidFill>
                <a:latin typeface="Instrument Sans Semi Bold" pitchFamily="34" charset="0"/>
                <a:ea typeface="Instrument Sans Semi Bold" pitchFamily="34" charset="-122"/>
                <a:cs typeface="Instrument Sans Semi Bold" pitchFamily="34" charset="-120"/>
              </a:rPr>
              <a:t>What lessons from Mandela's struggle are relevant to modern social justice movements?</a:t>
            </a:r>
            <a:endParaRPr lang="en-US" sz="1100" dirty="0"/>
          </a:p>
        </p:txBody>
      </p:sp>
      <p:pic>
        <p:nvPicPr>
          <p:cNvPr id="23" name="Picture 22">
            <a:extLst>
              <a:ext uri="{FF2B5EF4-FFF2-40B4-BE49-F238E27FC236}">
                <a16:creationId xmlns:a16="http://schemas.microsoft.com/office/drawing/2014/main" id="{34ED185A-6570-F7A0-2CCB-B300420D9D10}"/>
              </a:ext>
            </a:extLst>
          </p:cNvPr>
          <p:cNvPicPr>
            <a:picLocks noChangeAspect="1"/>
          </p:cNvPicPr>
          <p:nvPr/>
        </p:nvPicPr>
        <p:blipFill>
          <a:blip r:embed="rId3"/>
          <a:stretch>
            <a:fillRect/>
          </a:stretch>
        </p:blipFill>
        <p:spPr>
          <a:xfrm>
            <a:off x="7934631" y="4861066"/>
            <a:ext cx="1159105" cy="25533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96119" y="1212875"/>
            <a:ext cx="6863432"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Connecting to English Literature and Language</a:t>
            </a:r>
            <a:endParaRPr lang="en-US" sz="2400" dirty="0"/>
          </a:p>
        </p:txBody>
      </p:sp>
      <p:sp>
        <p:nvSpPr>
          <p:cNvPr id="3" name="Text 1"/>
          <p:cNvSpPr/>
          <p:nvPr/>
        </p:nvSpPr>
        <p:spPr>
          <a:xfrm>
            <a:off x="496119" y="1910432"/>
            <a:ext cx="3203823" cy="193849"/>
          </a:xfrm>
          <a:prstGeom prst="rect">
            <a:avLst/>
          </a:prstGeom>
          <a:noFill/>
          <a:ln/>
        </p:spPr>
        <p:txBody>
          <a:bodyPr wrap="none" lIns="0" tIns="0" rIns="0" bIns="0" rtlCol="0" anchor="t"/>
          <a:lstStyle/>
          <a:p>
            <a:pPr marL="0" indent="0" algn="l">
              <a:lnSpc>
                <a:spcPts val="1500"/>
              </a:lnSpc>
              <a:buNone/>
            </a:pPr>
            <a:r>
              <a:rPr lang="en-US" sz="1200" dirty="0">
                <a:solidFill>
                  <a:srgbClr val="091C53"/>
                </a:solidFill>
                <a:latin typeface="Instrument Sans Semi Bold" pitchFamily="34" charset="0"/>
                <a:ea typeface="Instrument Sans Semi Bold" pitchFamily="34" charset="-122"/>
                <a:cs typeface="Instrument Sans Semi Bold" pitchFamily="34" charset="-120"/>
              </a:rPr>
              <a:t>Literary Devices in 'A Long Walk to Freedom'</a:t>
            </a:r>
            <a:endParaRPr lang="en-US" sz="1200" dirty="0"/>
          </a:p>
        </p:txBody>
      </p:sp>
      <p:sp>
        <p:nvSpPr>
          <p:cNvPr id="4" name="Text 2"/>
          <p:cNvSpPr/>
          <p:nvPr/>
        </p:nvSpPr>
        <p:spPr>
          <a:xfrm>
            <a:off x="496119" y="2228255"/>
            <a:ext cx="3924598" cy="1320924"/>
          </a:xfrm>
          <a:prstGeom prst="rect">
            <a:avLst/>
          </a:prstGeom>
          <a:noFill/>
          <a:ln/>
        </p:spPr>
        <p:txBody>
          <a:bodyPr wrap="square" lIns="0" tIns="0" rIns="0" bIns="0" rtlCol="0" anchor="t"/>
          <a:lstStyle/>
          <a:p>
            <a:pPr marL="342900" indent="-342900" algn="l">
              <a:lnSpc>
                <a:spcPts val="1550"/>
              </a:lnSpc>
              <a:buSzPct val="100000"/>
              <a:buChar char="•"/>
            </a:pPr>
            <a:r>
              <a:rPr lang="en-US" sz="950" b="1" dirty="0">
                <a:solidFill>
                  <a:srgbClr val="1E3063"/>
                </a:solidFill>
                <a:latin typeface="Instrument Sans Medium" pitchFamily="34" charset="0"/>
                <a:ea typeface="Instrument Sans Medium" pitchFamily="34" charset="-122"/>
                <a:cs typeface="Instrument Sans Medium" pitchFamily="34" charset="-120"/>
              </a:rPr>
              <a:t>Metaphor:</a:t>
            </a:r>
            <a:r>
              <a:rPr lang="en-US" sz="950" dirty="0">
                <a:solidFill>
                  <a:srgbClr val="1E3063"/>
                </a:solidFill>
                <a:latin typeface="Instrument Sans Medium" pitchFamily="34" charset="0"/>
                <a:ea typeface="Instrument Sans Medium" pitchFamily="34" charset="-122"/>
                <a:cs typeface="Instrument Sans Medium" pitchFamily="34" charset="-120"/>
              </a:rPr>
              <a:t> "Long Walk" represents the journey toward freedom</a:t>
            </a:r>
            <a:endParaRPr lang="en-US" sz="950" dirty="0"/>
          </a:p>
          <a:p>
            <a:pPr marL="342900" indent="-342900" algn="l">
              <a:lnSpc>
                <a:spcPts val="1550"/>
              </a:lnSpc>
              <a:buSzPct val="100000"/>
              <a:buChar char="•"/>
            </a:pPr>
            <a:r>
              <a:rPr lang="en-US" sz="950" b="1" dirty="0">
                <a:solidFill>
                  <a:srgbClr val="1E3063"/>
                </a:solidFill>
                <a:latin typeface="Instrument Sans Medium" pitchFamily="34" charset="0"/>
                <a:ea typeface="Instrument Sans Medium" pitchFamily="34" charset="-122"/>
                <a:cs typeface="Instrument Sans Medium" pitchFamily="34" charset="-120"/>
              </a:rPr>
              <a:t>Symbolism:</a:t>
            </a:r>
            <a:r>
              <a:rPr lang="en-US" sz="950" dirty="0">
                <a:solidFill>
                  <a:srgbClr val="1E3063"/>
                </a:solidFill>
                <a:latin typeface="Instrument Sans Medium" pitchFamily="34" charset="0"/>
                <a:ea typeface="Instrument Sans Medium" pitchFamily="34" charset="-122"/>
                <a:cs typeface="Instrument Sans Medium" pitchFamily="34" charset="-120"/>
              </a:rPr>
              <a:t> Robben Island as a symbol of oppression and resilience</a:t>
            </a:r>
            <a:endParaRPr lang="en-US" sz="950" dirty="0"/>
          </a:p>
          <a:p>
            <a:pPr marL="342900" indent="-342900" algn="l">
              <a:lnSpc>
                <a:spcPts val="1550"/>
              </a:lnSpc>
              <a:buSzPct val="100000"/>
              <a:buChar char="•"/>
            </a:pPr>
            <a:r>
              <a:rPr lang="en-US" sz="950" b="1" dirty="0">
                <a:solidFill>
                  <a:srgbClr val="1E3063"/>
                </a:solidFill>
                <a:latin typeface="Instrument Sans Medium" pitchFamily="34" charset="0"/>
                <a:ea typeface="Instrument Sans Medium" pitchFamily="34" charset="-122"/>
                <a:cs typeface="Instrument Sans Medium" pitchFamily="34" charset="-120"/>
              </a:rPr>
              <a:t>Narrative Structure:</a:t>
            </a:r>
            <a:r>
              <a:rPr lang="en-US" sz="950" dirty="0">
                <a:solidFill>
                  <a:srgbClr val="1E3063"/>
                </a:solidFill>
                <a:latin typeface="Instrument Sans Medium" pitchFamily="34" charset="0"/>
                <a:ea typeface="Instrument Sans Medium" pitchFamily="34" charset="-122"/>
                <a:cs typeface="Instrument Sans Medium" pitchFamily="34" charset="-120"/>
              </a:rPr>
              <a:t> Chronological journey from childhood to presidency</a:t>
            </a:r>
            <a:endParaRPr lang="en-US" sz="950" dirty="0"/>
          </a:p>
          <a:p>
            <a:pPr marL="342900" indent="-342900" algn="l">
              <a:lnSpc>
                <a:spcPts val="1550"/>
              </a:lnSpc>
              <a:buSzPct val="100000"/>
              <a:buChar char="•"/>
            </a:pPr>
            <a:r>
              <a:rPr lang="en-US" sz="950" b="1" dirty="0">
                <a:solidFill>
                  <a:srgbClr val="1E3063"/>
                </a:solidFill>
                <a:latin typeface="Instrument Sans Medium" pitchFamily="34" charset="0"/>
                <a:ea typeface="Instrument Sans Medium" pitchFamily="34" charset="-122"/>
                <a:cs typeface="Instrument Sans Medium" pitchFamily="34" charset="-120"/>
              </a:rPr>
              <a:t>Tone:</a:t>
            </a:r>
            <a:r>
              <a:rPr lang="en-US" sz="950" dirty="0">
                <a:solidFill>
                  <a:srgbClr val="1E3063"/>
                </a:solidFill>
                <a:latin typeface="Instrument Sans Medium" pitchFamily="34" charset="0"/>
                <a:ea typeface="Instrument Sans Medium" pitchFamily="34" charset="-122"/>
                <a:cs typeface="Instrument Sans Medium" pitchFamily="34" charset="-120"/>
              </a:rPr>
              <a:t> Reflective, honest, and ultimately hopeful</a:t>
            </a:r>
            <a:endParaRPr lang="en-US" sz="950" dirty="0"/>
          </a:p>
        </p:txBody>
      </p:sp>
      <p:sp>
        <p:nvSpPr>
          <p:cNvPr id="5" name="Text 3"/>
          <p:cNvSpPr/>
          <p:nvPr/>
        </p:nvSpPr>
        <p:spPr>
          <a:xfrm>
            <a:off x="4728046" y="1910432"/>
            <a:ext cx="1686669" cy="193849"/>
          </a:xfrm>
          <a:prstGeom prst="rect">
            <a:avLst/>
          </a:prstGeom>
          <a:noFill/>
          <a:ln/>
        </p:spPr>
        <p:txBody>
          <a:bodyPr wrap="none" lIns="0" tIns="0" rIns="0" bIns="0" rtlCol="0" anchor="t"/>
          <a:lstStyle/>
          <a:p>
            <a:pPr marL="0" indent="0" algn="l">
              <a:lnSpc>
                <a:spcPts val="1500"/>
              </a:lnSpc>
              <a:buNone/>
            </a:pPr>
            <a:r>
              <a:rPr lang="en-US" sz="1200" dirty="0">
                <a:solidFill>
                  <a:srgbClr val="091C53"/>
                </a:solidFill>
                <a:latin typeface="Instrument Sans Semi Bold" pitchFamily="34" charset="0"/>
                <a:ea typeface="Instrument Sans Semi Bold" pitchFamily="34" charset="-122"/>
                <a:cs typeface="Instrument Sans Semi Bold" pitchFamily="34" charset="-120"/>
              </a:rPr>
              <a:t>Language and Rhetoric</a:t>
            </a:r>
            <a:endParaRPr lang="en-US" sz="1200" dirty="0"/>
          </a:p>
        </p:txBody>
      </p:sp>
      <p:sp>
        <p:nvSpPr>
          <p:cNvPr id="6" name="Text 4"/>
          <p:cNvSpPr/>
          <p:nvPr/>
        </p:nvSpPr>
        <p:spPr>
          <a:xfrm>
            <a:off x="4728046" y="2228255"/>
            <a:ext cx="3924598" cy="1122462"/>
          </a:xfrm>
          <a:prstGeom prst="rect">
            <a:avLst/>
          </a:prstGeom>
          <a:noFill/>
          <a:ln/>
        </p:spPr>
        <p:txBody>
          <a:bodyPr wrap="square" lIns="0" tIns="0" rIns="0" bIns="0" rtlCol="0" anchor="t"/>
          <a:lstStyle/>
          <a:p>
            <a:pPr marL="342900" indent="-342900" algn="l">
              <a:lnSpc>
                <a:spcPts val="1550"/>
              </a:lnSpc>
              <a:buSzPct val="100000"/>
              <a:buChar char="•"/>
            </a:pPr>
            <a:r>
              <a:rPr lang="en-US" sz="950" dirty="0">
                <a:solidFill>
                  <a:srgbClr val="1E3063"/>
                </a:solidFill>
                <a:latin typeface="Instrument Sans Medium" pitchFamily="34" charset="0"/>
                <a:ea typeface="Instrument Sans Medium" pitchFamily="34" charset="-122"/>
                <a:cs typeface="Instrument Sans Medium" pitchFamily="34" charset="-120"/>
              </a:rPr>
              <a:t>Mandela's use of powerful speeches to inspire change</a:t>
            </a:r>
            <a:endParaRPr lang="en-US" sz="950" dirty="0"/>
          </a:p>
          <a:p>
            <a:pPr marL="342900" indent="-342900" algn="l">
              <a:lnSpc>
                <a:spcPts val="1550"/>
              </a:lnSpc>
              <a:buSzPct val="100000"/>
              <a:buChar char="•"/>
            </a:pPr>
            <a:r>
              <a:rPr lang="en-US" sz="950" dirty="0">
                <a:solidFill>
                  <a:srgbClr val="1E3063"/>
                </a:solidFill>
                <a:latin typeface="Instrument Sans Medium" pitchFamily="34" charset="0"/>
                <a:ea typeface="Instrument Sans Medium" pitchFamily="34" charset="-122"/>
                <a:cs typeface="Instrument Sans Medium" pitchFamily="34" charset="-120"/>
              </a:rPr>
              <a:t>The importance of storytelling in preserving history</a:t>
            </a:r>
            <a:endParaRPr lang="en-US" sz="950" dirty="0"/>
          </a:p>
          <a:p>
            <a:pPr marL="342900" indent="-342900" algn="l">
              <a:lnSpc>
                <a:spcPts val="1550"/>
              </a:lnSpc>
              <a:buSzPct val="100000"/>
              <a:buChar char="•"/>
            </a:pPr>
            <a:r>
              <a:rPr lang="en-US" sz="950" dirty="0">
                <a:solidFill>
                  <a:srgbClr val="1E3063"/>
                </a:solidFill>
                <a:latin typeface="Instrument Sans Medium" pitchFamily="34" charset="0"/>
                <a:ea typeface="Instrument Sans Medium" pitchFamily="34" charset="-122"/>
                <a:cs typeface="Instrument Sans Medium" pitchFamily="34" charset="-120"/>
              </a:rPr>
              <a:t>How autobiography as a genre gives voice to marginalized experiences</a:t>
            </a:r>
            <a:endParaRPr lang="en-US" sz="950" dirty="0"/>
          </a:p>
          <a:p>
            <a:pPr marL="342900" indent="-342900" algn="l">
              <a:lnSpc>
                <a:spcPts val="1550"/>
              </a:lnSpc>
              <a:buSzPct val="100000"/>
              <a:buChar char="•"/>
            </a:pPr>
            <a:r>
              <a:rPr lang="en-US" sz="950" dirty="0">
                <a:solidFill>
                  <a:srgbClr val="1E3063"/>
                </a:solidFill>
                <a:latin typeface="Instrument Sans Medium" pitchFamily="34" charset="0"/>
                <a:ea typeface="Instrument Sans Medium" pitchFamily="34" charset="-122"/>
                <a:cs typeface="Instrument Sans Medium" pitchFamily="34" charset="-120"/>
              </a:rPr>
              <a:t>The role of language in shaping political movements</a:t>
            </a:r>
            <a:endParaRPr lang="en-US" sz="950" dirty="0"/>
          </a:p>
        </p:txBody>
      </p:sp>
      <p:sp>
        <p:nvSpPr>
          <p:cNvPr id="7" name="Text 5"/>
          <p:cNvSpPr/>
          <p:nvPr/>
        </p:nvSpPr>
        <p:spPr>
          <a:xfrm>
            <a:off x="496119" y="3732088"/>
            <a:ext cx="8151763" cy="198462"/>
          </a:xfrm>
          <a:prstGeom prst="rect">
            <a:avLst/>
          </a:prstGeom>
          <a:noFill/>
          <a:ln/>
        </p:spPr>
        <p:txBody>
          <a:bodyPr wrap="non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Mandela's autobiography demonstrates how literature can be a tool for social change and historical documentation.</a:t>
            </a:r>
            <a:endParaRPr lang="en-US" sz="950" dirty="0"/>
          </a:p>
        </p:txBody>
      </p:sp>
      <p:pic>
        <p:nvPicPr>
          <p:cNvPr id="8" name="Picture 7">
            <a:extLst>
              <a:ext uri="{FF2B5EF4-FFF2-40B4-BE49-F238E27FC236}">
                <a16:creationId xmlns:a16="http://schemas.microsoft.com/office/drawing/2014/main" id="{C15C9FAE-07B1-B603-F4D9-3A3014AF4583}"/>
              </a:ext>
            </a:extLst>
          </p:cNvPr>
          <p:cNvPicPr>
            <a:picLocks noChangeAspect="1"/>
          </p:cNvPicPr>
          <p:nvPr/>
        </p:nvPicPr>
        <p:blipFill>
          <a:blip r:embed="rId3"/>
          <a:stretch>
            <a:fillRect/>
          </a:stretch>
        </p:blipFill>
        <p:spPr>
          <a:xfrm>
            <a:off x="7934631" y="4861066"/>
            <a:ext cx="1159105" cy="25533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98066" y="285378"/>
            <a:ext cx="3957712" cy="314920"/>
          </a:xfrm>
          <a:prstGeom prst="rect">
            <a:avLst/>
          </a:prstGeom>
          <a:noFill/>
          <a:ln/>
        </p:spPr>
        <p:txBody>
          <a:bodyPr wrap="none" lIns="0" tIns="0" rIns="0" bIns="0" rtlCol="0" anchor="t"/>
          <a:lstStyle/>
          <a:p>
            <a:pPr marL="0" indent="0" algn="l">
              <a:lnSpc>
                <a:spcPts val="2450"/>
              </a:lnSpc>
              <a:buNone/>
            </a:pPr>
            <a:r>
              <a:rPr lang="en-US" sz="1950" dirty="0">
                <a:solidFill>
                  <a:srgbClr val="091C53"/>
                </a:solidFill>
                <a:latin typeface="Instrument Sans Semi Bold" pitchFamily="34" charset="0"/>
                <a:ea typeface="Instrument Sans Semi Bold" pitchFamily="34" charset="-122"/>
                <a:cs typeface="Instrument Sans Semi Bold" pitchFamily="34" charset="-120"/>
              </a:rPr>
              <a:t>Bibliography and Further Reading</a:t>
            </a:r>
            <a:endParaRPr lang="en-US" sz="1950" dirty="0"/>
          </a:p>
        </p:txBody>
      </p:sp>
      <p:sp>
        <p:nvSpPr>
          <p:cNvPr id="3" name="Shape 1"/>
          <p:cNvSpPr/>
          <p:nvPr/>
        </p:nvSpPr>
        <p:spPr>
          <a:xfrm>
            <a:off x="598066" y="764009"/>
            <a:ext cx="7947794" cy="757461"/>
          </a:xfrm>
          <a:prstGeom prst="roundRect">
            <a:avLst>
              <a:gd name="adj" fmla="val 11975"/>
            </a:avLst>
          </a:prstGeom>
          <a:solidFill>
            <a:srgbClr val="FFFFFF"/>
          </a:solidFill>
          <a:ln w="14288">
            <a:solidFill>
              <a:srgbClr val="B4CCE3"/>
            </a:solidFill>
            <a:prstDash val="solid"/>
          </a:ln>
        </p:spPr>
      </p:sp>
      <p:sp>
        <p:nvSpPr>
          <p:cNvPr id="4" name="Shape 2"/>
          <p:cNvSpPr/>
          <p:nvPr/>
        </p:nvSpPr>
        <p:spPr>
          <a:xfrm>
            <a:off x="612353" y="778297"/>
            <a:ext cx="403101" cy="728886"/>
          </a:xfrm>
          <a:prstGeom prst="roundRect">
            <a:avLst>
              <a:gd name="adj" fmla="val 18250"/>
            </a:avLst>
          </a:prstGeom>
          <a:solidFill>
            <a:srgbClr val="CEE6FD"/>
          </a:solidFill>
          <a:ln/>
        </p:spPr>
      </p:sp>
      <p:sp>
        <p:nvSpPr>
          <p:cNvPr id="5" name="Text 3"/>
          <p:cNvSpPr/>
          <p:nvPr/>
        </p:nvSpPr>
        <p:spPr>
          <a:xfrm>
            <a:off x="738336" y="1048271"/>
            <a:ext cx="151135" cy="188937"/>
          </a:xfrm>
          <a:prstGeom prst="rect">
            <a:avLst/>
          </a:prstGeom>
          <a:noFill/>
          <a:ln/>
        </p:spPr>
        <p:txBody>
          <a:bodyPr wrap="none" lIns="0" tIns="0" rIns="0" bIns="0" rtlCol="0" anchor="ctr"/>
          <a:lstStyle/>
          <a:p>
            <a:pPr marL="0" indent="0" algn="ctr">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1</a:t>
            </a:r>
            <a:endParaRPr lang="en-US" sz="1150" dirty="0"/>
          </a:p>
        </p:txBody>
      </p:sp>
      <p:sp>
        <p:nvSpPr>
          <p:cNvPr id="6" name="Text 4"/>
          <p:cNvSpPr/>
          <p:nvPr/>
        </p:nvSpPr>
        <p:spPr>
          <a:xfrm>
            <a:off x="1097310" y="879053"/>
            <a:ext cx="1259830" cy="157460"/>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Primary Sources</a:t>
            </a:r>
            <a:endParaRPr lang="en-US" sz="950" dirty="0"/>
          </a:p>
        </p:txBody>
      </p:sp>
      <p:sp>
        <p:nvSpPr>
          <p:cNvPr id="7" name="Text 5"/>
          <p:cNvSpPr/>
          <p:nvPr/>
        </p:nvSpPr>
        <p:spPr>
          <a:xfrm>
            <a:off x="1097310" y="1085627"/>
            <a:ext cx="7333506" cy="320799"/>
          </a:xfrm>
          <a:prstGeom prst="rect">
            <a:avLst/>
          </a:prstGeom>
          <a:noFill/>
          <a:ln/>
        </p:spPr>
        <p:txBody>
          <a:bodyPr wrap="square" lIns="0" tIns="0" rIns="0" bIns="0" rtlCol="0" anchor="t"/>
          <a:lstStyle/>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Mandela, Nelson. "A Long Walk to Freedom" (1994)</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Mandela, Nelson. "Speeches and Writings" (1990-1994)</a:t>
            </a:r>
            <a:endParaRPr lang="en-US" sz="750" dirty="0"/>
          </a:p>
        </p:txBody>
      </p:sp>
      <p:sp>
        <p:nvSpPr>
          <p:cNvPr id="8" name="Shape 6"/>
          <p:cNvSpPr/>
          <p:nvPr/>
        </p:nvSpPr>
        <p:spPr>
          <a:xfrm>
            <a:off x="598066" y="1603325"/>
            <a:ext cx="7947794" cy="932185"/>
          </a:xfrm>
          <a:prstGeom prst="roundRect">
            <a:avLst>
              <a:gd name="adj" fmla="val 9731"/>
            </a:avLst>
          </a:prstGeom>
          <a:solidFill>
            <a:srgbClr val="FFFFFF"/>
          </a:solidFill>
          <a:ln w="14288">
            <a:solidFill>
              <a:srgbClr val="B4CCE3"/>
            </a:solidFill>
            <a:prstDash val="solid"/>
          </a:ln>
        </p:spPr>
      </p:sp>
      <p:sp>
        <p:nvSpPr>
          <p:cNvPr id="9" name="Shape 7"/>
          <p:cNvSpPr/>
          <p:nvPr/>
        </p:nvSpPr>
        <p:spPr>
          <a:xfrm>
            <a:off x="612353" y="1617613"/>
            <a:ext cx="403101" cy="903610"/>
          </a:xfrm>
          <a:prstGeom prst="roundRect">
            <a:avLst>
              <a:gd name="adj" fmla="val 18250"/>
            </a:avLst>
          </a:prstGeom>
          <a:solidFill>
            <a:srgbClr val="CEE6FD"/>
          </a:solidFill>
          <a:ln/>
        </p:spPr>
      </p:sp>
      <p:sp>
        <p:nvSpPr>
          <p:cNvPr id="10" name="Text 8"/>
          <p:cNvSpPr/>
          <p:nvPr/>
        </p:nvSpPr>
        <p:spPr>
          <a:xfrm>
            <a:off x="738336" y="1974949"/>
            <a:ext cx="151135" cy="188937"/>
          </a:xfrm>
          <a:prstGeom prst="rect">
            <a:avLst/>
          </a:prstGeom>
          <a:noFill/>
          <a:ln/>
        </p:spPr>
        <p:txBody>
          <a:bodyPr wrap="none" lIns="0" tIns="0" rIns="0" bIns="0" rtlCol="0" anchor="ctr"/>
          <a:lstStyle/>
          <a:p>
            <a:pPr marL="0" indent="0" algn="ctr">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2</a:t>
            </a:r>
            <a:endParaRPr lang="en-US" sz="1150" dirty="0"/>
          </a:p>
        </p:txBody>
      </p:sp>
      <p:sp>
        <p:nvSpPr>
          <p:cNvPr id="11" name="Text 9"/>
          <p:cNvSpPr/>
          <p:nvPr/>
        </p:nvSpPr>
        <p:spPr>
          <a:xfrm>
            <a:off x="1097310" y="1718370"/>
            <a:ext cx="1297260" cy="157460"/>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Recommended Books</a:t>
            </a:r>
            <a:endParaRPr lang="en-US" sz="950" dirty="0"/>
          </a:p>
        </p:txBody>
      </p:sp>
      <p:sp>
        <p:nvSpPr>
          <p:cNvPr id="12" name="Text 10"/>
          <p:cNvSpPr/>
          <p:nvPr/>
        </p:nvSpPr>
        <p:spPr>
          <a:xfrm>
            <a:off x="1097310" y="1924943"/>
            <a:ext cx="7333506" cy="495523"/>
          </a:xfrm>
          <a:prstGeom prst="rect">
            <a:avLst/>
          </a:prstGeom>
          <a:noFill/>
          <a:ln/>
        </p:spPr>
        <p:txBody>
          <a:bodyPr wrap="square" lIns="0" tIns="0" rIns="0" bIns="0" rtlCol="0" anchor="t"/>
          <a:lstStyle/>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"Mandela: The Authorized Biography" by Anthony Sampson</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"The Anti-Apartheid Movement in Britain" by Stephen Howe</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"South Africa: A Very Short Introduction" by Robert Ross</a:t>
            </a:r>
            <a:endParaRPr lang="en-US" sz="750" dirty="0"/>
          </a:p>
        </p:txBody>
      </p:sp>
      <p:sp>
        <p:nvSpPr>
          <p:cNvPr id="13" name="Shape 11"/>
          <p:cNvSpPr/>
          <p:nvPr/>
        </p:nvSpPr>
        <p:spPr>
          <a:xfrm>
            <a:off x="598066" y="2617366"/>
            <a:ext cx="7947794" cy="757461"/>
          </a:xfrm>
          <a:prstGeom prst="roundRect">
            <a:avLst>
              <a:gd name="adj" fmla="val 11975"/>
            </a:avLst>
          </a:prstGeom>
          <a:solidFill>
            <a:srgbClr val="FFFFFF"/>
          </a:solidFill>
          <a:ln w="14288">
            <a:solidFill>
              <a:srgbClr val="B4CCE3"/>
            </a:solidFill>
            <a:prstDash val="solid"/>
          </a:ln>
        </p:spPr>
      </p:sp>
      <p:sp>
        <p:nvSpPr>
          <p:cNvPr id="14" name="Shape 12"/>
          <p:cNvSpPr/>
          <p:nvPr/>
        </p:nvSpPr>
        <p:spPr>
          <a:xfrm>
            <a:off x="612353" y="2631653"/>
            <a:ext cx="403101" cy="728886"/>
          </a:xfrm>
          <a:prstGeom prst="roundRect">
            <a:avLst>
              <a:gd name="adj" fmla="val 18250"/>
            </a:avLst>
          </a:prstGeom>
          <a:solidFill>
            <a:srgbClr val="CEE6FD"/>
          </a:solidFill>
          <a:ln/>
        </p:spPr>
      </p:sp>
      <p:sp>
        <p:nvSpPr>
          <p:cNvPr id="15" name="Text 13"/>
          <p:cNvSpPr/>
          <p:nvPr/>
        </p:nvSpPr>
        <p:spPr>
          <a:xfrm>
            <a:off x="738336" y="2901628"/>
            <a:ext cx="151135" cy="188937"/>
          </a:xfrm>
          <a:prstGeom prst="rect">
            <a:avLst/>
          </a:prstGeom>
          <a:noFill/>
          <a:ln/>
        </p:spPr>
        <p:txBody>
          <a:bodyPr wrap="none" lIns="0" tIns="0" rIns="0" bIns="0" rtlCol="0" anchor="ctr"/>
          <a:lstStyle/>
          <a:p>
            <a:pPr marL="0" indent="0" algn="ctr">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3</a:t>
            </a:r>
            <a:endParaRPr lang="en-US" sz="1150" dirty="0"/>
          </a:p>
        </p:txBody>
      </p:sp>
      <p:sp>
        <p:nvSpPr>
          <p:cNvPr id="16" name="Text 14"/>
          <p:cNvSpPr/>
          <p:nvPr/>
        </p:nvSpPr>
        <p:spPr>
          <a:xfrm>
            <a:off x="1097310" y="2732410"/>
            <a:ext cx="1259830" cy="157460"/>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Documentaries</a:t>
            </a:r>
            <a:endParaRPr lang="en-US" sz="950" dirty="0"/>
          </a:p>
        </p:txBody>
      </p:sp>
      <p:sp>
        <p:nvSpPr>
          <p:cNvPr id="17" name="Text 15"/>
          <p:cNvSpPr/>
          <p:nvPr/>
        </p:nvSpPr>
        <p:spPr>
          <a:xfrm>
            <a:off x="1097310" y="2938983"/>
            <a:ext cx="7333506" cy="320799"/>
          </a:xfrm>
          <a:prstGeom prst="rect">
            <a:avLst/>
          </a:prstGeom>
          <a:noFill/>
          <a:ln/>
        </p:spPr>
        <p:txBody>
          <a:bodyPr wrap="square" lIns="0" tIns="0" rIns="0" bIns="0" rtlCol="0" anchor="t"/>
          <a:lstStyle/>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"Mandela: Long Walk to Freedom" (2013)</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"Mandela: The Life and Times" (BBC Documentary)</a:t>
            </a:r>
            <a:endParaRPr lang="en-US" sz="750" dirty="0"/>
          </a:p>
        </p:txBody>
      </p:sp>
      <p:sp>
        <p:nvSpPr>
          <p:cNvPr id="18" name="Shape 16"/>
          <p:cNvSpPr/>
          <p:nvPr/>
        </p:nvSpPr>
        <p:spPr>
          <a:xfrm>
            <a:off x="598066" y="3456682"/>
            <a:ext cx="7947794" cy="932185"/>
          </a:xfrm>
          <a:prstGeom prst="roundRect">
            <a:avLst>
              <a:gd name="adj" fmla="val 9731"/>
            </a:avLst>
          </a:prstGeom>
          <a:solidFill>
            <a:srgbClr val="FFFFFF"/>
          </a:solidFill>
          <a:ln w="14288">
            <a:solidFill>
              <a:srgbClr val="B4CCE3"/>
            </a:solidFill>
            <a:prstDash val="solid"/>
          </a:ln>
        </p:spPr>
      </p:sp>
      <p:sp>
        <p:nvSpPr>
          <p:cNvPr id="19" name="Shape 17"/>
          <p:cNvSpPr/>
          <p:nvPr/>
        </p:nvSpPr>
        <p:spPr>
          <a:xfrm>
            <a:off x="612353" y="3470970"/>
            <a:ext cx="403101" cy="903610"/>
          </a:xfrm>
          <a:prstGeom prst="roundRect">
            <a:avLst>
              <a:gd name="adj" fmla="val 18250"/>
            </a:avLst>
          </a:prstGeom>
          <a:solidFill>
            <a:srgbClr val="CEE6FD"/>
          </a:solidFill>
          <a:ln/>
        </p:spPr>
      </p:sp>
      <p:sp>
        <p:nvSpPr>
          <p:cNvPr id="20" name="Text 18"/>
          <p:cNvSpPr/>
          <p:nvPr/>
        </p:nvSpPr>
        <p:spPr>
          <a:xfrm>
            <a:off x="738336" y="3828306"/>
            <a:ext cx="151135" cy="188937"/>
          </a:xfrm>
          <a:prstGeom prst="rect">
            <a:avLst/>
          </a:prstGeom>
          <a:noFill/>
          <a:ln/>
        </p:spPr>
        <p:txBody>
          <a:bodyPr wrap="none" lIns="0" tIns="0" rIns="0" bIns="0" rtlCol="0" anchor="ctr"/>
          <a:lstStyle/>
          <a:p>
            <a:pPr marL="0" indent="0" algn="ctr">
              <a:lnSpc>
                <a:spcPts val="1150"/>
              </a:lnSpc>
              <a:buNone/>
            </a:pPr>
            <a:r>
              <a:rPr lang="en-US" sz="1150" dirty="0">
                <a:solidFill>
                  <a:srgbClr val="1E3063"/>
                </a:solidFill>
                <a:latin typeface="Instrument Sans Semi Bold" pitchFamily="34" charset="0"/>
                <a:ea typeface="Instrument Sans Semi Bold" pitchFamily="34" charset="-122"/>
                <a:cs typeface="Instrument Sans Semi Bold" pitchFamily="34" charset="-120"/>
              </a:rPr>
              <a:t>4</a:t>
            </a:r>
            <a:endParaRPr lang="en-US" sz="1150" dirty="0"/>
          </a:p>
        </p:txBody>
      </p:sp>
      <p:sp>
        <p:nvSpPr>
          <p:cNvPr id="21" name="Text 19"/>
          <p:cNvSpPr/>
          <p:nvPr/>
        </p:nvSpPr>
        <p:spPr>
          <a:xfrm>
            <a:off x="1097310" y="3571726"/>
            <a:ext cx="1259830" cy="157460"/>
          </a:xfrm>
          <a:prstGeom prst="rect">
            <a:avLst/>
          </a:prstGeom>
          <a:noFill/>
          <a:ln/>
        </p:spPr>
        <p:txBody>
          <a:bodyPr wrap="none" lIns="0" tIns="0" rIns="0" bIns="0" rtlCol="0" anchor="t"/>
          <a:lstStyle/>
          <a:p>
            <a:pPr marL="0" indent="0" algn="l">
              <a:lnSpc>
                <a:spcPts val="1200"/>
              </a:lnSpc>
              <a:buNone/>
            </a:pPr>
            <a:r>
              <a:rPr lang="en-US" sz="950" dirty="0">
                <a:solidFill>
                  <a:srgbClr val="1E3063"/>
                </a:solidFill>
                <a:latin typeface="Instrument Sans Semi Bold" pitchFamily="34" charset="0"/>
                <a:ea typeface="Instrument Sans Semi Bold" pitchFamily="34" charset="-122"/>
                <a:cs typeface="Instrument Sans Semi Bold" pitchFamily="34" charset="-120"/>
              </a:rPr>
              <a:t>Online Resources</a:t>
            </a:r>
            <a:endParaRPr lang="en-US" sz="950" dirty="0"/>
          </a:p>
        </p:txBody>
      </p:sp>
      <p:sp>
        <p:nvSpPr>
          <p:cNvPr id="22" name="Text 20"/>
          <p:cNvSpPr/>
          <p:nvPr/>
        </p:nvSpPr>
        <p:spPr>
          <a:xfrm>
            <a:off x="1097310" y="3778300"/>
            <a:ext cx="7333506" cy="495523"/>
          </a:xfrm>
          <a:prstGeom prst="rect">
            <a:avLst/>
          </a:prstGeom>
          <a:noFill/>
          <a:ln/>
        </p:spPr>
        <p:txBody>
          <a:bodyPr wrap="square" lIns="0" tIns="0" rIns="0" bIns="0" rtlCol="0" anchor="t"/>
          <a:lstStyle/>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Nelson Mandela Foundation (nelsonmandela.org)</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South African History Online (sahistory.org.za)</a:t>
            </a:r>
            <a:endParaRPr lang="en-US" sz="750" dirty="0"/>
          </a:p>
          <a:p>
            <a:pPr marL="342900" indent="-342900" algn="l">
              <a:lnSpc>
                <a:spcPts val="1150"/>
              </a:lnSpc>
              <a:buSzPct val="100000"/>
              <a:buChar char="•"/>
            </a:pPr>
            <a:r>
              <a:rPr lang="en-US" sz="750" dirty="0">
                <a:solidFill>
                  <a:srgbClr val="1E3063"/>
                </a:solidFill>
                <a:latin typeface="Instrument Sans Medium" pitchFamily="34" charset="0"/>
                <a:ea typeface="Instrument Sans Medium" pitchFamily="34" charset="-122"/>
                <a:cs typeface="Instrument Sans Medium" pitchFamily="34" charset="-120"/>
              </a:rPr>
              <a:t>United Nations Apartheid Archive</a:t>
            </a:r>
            <a:endParaRPr lang="en-US" sz="750" dirty="0"/>
          </a:p>
        </p:txBody>
      </p:sp>
      <p:sp>
        <p:nvSpPr>
          <p:cNvPr id="23" name="Shape 21"/>
          <p:cNvSpPr/>
          <p:nvPr/>
        </p:nvSpPr>
        <p:spPr>
          <a:xfrm>
            <a:off x="598066" y="4480992"/>
            <a:ext cx="7947794" cy="377130"/>
          </a:xfrm>
          <a:prstGeom prst="roundRect">
            <a:avLst>
              <a:gd name="adj" fmla="val 24052"/>
            </a:avLst>
          </a:prstGeom>
          <a:solidFill>
            <a:srgbClr val="B5DAFC"/>
          </a:solidFill>
          <a:ln/>
        </p:spPr>
      </p:sp>
      <p:pic>
        <p:nvPicPr>
          <p:cNvPr id="24" name="Image 0" descr="preencoded.png"/>
          <p:cNvPicPr>
            <a:picLocks noChangeAspect="1"/>
          </p:cNvPicPr>
          <p:nvPr/>
        </p:nvPicPr>
        <p:blipFill>
          <a:blip r:embed="rId3"/>
          <a:stretch>
            <a:fillRect/>
          </a:stretch>
        </p:blipFill>
        <p:spPr>
          <a:xfrm>
            <a:off x="698822" y="4628257"/>
            <a:ext cx="125983" cy="100757"/>
          </a:xfrm>
          <a:prstGeom prst="rect">
            <a:avLst/>
          </a:prstGeom>
        </p:spPr>
      </p:pic>
      <p:sp>
        <p:nvSpPr>
          <p:cNvPr id="25" name="Text 22"/>
          <p:cNvSpPr/>
          <p:nvPr/>
        </p:nvSpPr>
        <p:spPr>
          <a:xfrm>
            <a:off x="925562" y="4587999"/>
            <a:ext cx="7519541" cy="146075"/>
          </a:xfrm>
          <a:prstGeom prst="rect">
            <a:avLst/>
          </a:prstGeom>
          <a:noFill/>
          <a:ln/>
        </p:spPr>
        <p:txBody>
          <a:bodyPr wrap="none" lIns="0" tIns="0" rIns="0" bIns="0" rtlCol="0" anchor="t"/>
          <a:lstStyle/>
          <a:p>
            <a:pPr marL="0" indent="0" algn="l">
              <a:lnSpc>
                <a:spcPts val="1150"/>
              </a:lnSpc>
              <a:buNone/>
            </a:pPr>
            <a:r>
              <a:rPr lang="en-US" sz="750" dirty="0">
                <a:solidFill>
                  <a:srgbClr val="000000"/>
                </a:solidFill>
                <a:latin typeface="Instrument Sans Medium" pitchFamily="34" charset="0"/>
                <a:ea typeface="Instrument Sans Medium" pitchFamily="34" charset="-122"/>
                <a:cs typeface="Instrument Sans Medium" pitchFamily="34" charset="-120"/>
              </a:rPr>
              <a:t>These resources provide deeper insights into the historical context and Mandela's legacy.</a:t>
            </a:r>
            <a:endParaRPr lang="en-US" sz="750" dirty="0"/>
          </a:p>
        </p:txBody>
      </p:sp>
      <p:pic>
        <p:nvPicPr>
          <p:cNvPr id="26" name="Picture 25">
            <a:extLst>
              <a:ext uri="{FF2B5EF4-FFF2-40B4-BE49-F238E27FC236}">
                <a16:creationId xmlns:a16="http://schemas.microsoft.com/office/drawing/2014/main" id="{AB247CE1-BF0C-28B5-CAE8-9BD65F5B705F}"/>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alpha val="85000"/>
            </a:srgbClr>
          </a:solidFill>
          <a:ln/>
        </p:spPr>
      </p:sp>
      <p:sp>
        <p:nvSpPr>
          <p:cNvPr id="4" name="Text 1"/>
          <p:cNvSpPr/>
          <p:nvPr/>
        </p:nvSpPr>
        <p:spPr>
          <a:xfrm>
            <a:off x="496119" y="827633"/>
            <a:ext cx="3101132" cy="387548"/>
          </a:xfrm>
          <a:prstGeom prst="rect">
            <a:avLst/>
          </a:prstGeom>
          <a:noFill/>
          <a:ln/>
        </p:spPr>
        <p:txBody>
          <a:bodyPr wrap="none" lIns="0" tIns="0" rIns="0" bIns="0" rtlCol="0" anchor="t"/>
          <a:lstStyle/>
          <a:p>
            <a:pPr marL="0" indent="0" algn="l">
              <a:lnSpc>
                <a:spcPts val="3050"/>
              </a:lnSpc>
              <a:buNone/>
            </a:pPr>
            <a:r>
              <a:rPr lang="en-US" sz="2400" dirty="0">
                <a:solidFill>
                  <a:srgbClr val="091C53"/>
                </a:solidFill>
                <a:latin typeface="Instrument Sans Semi Bold" pitchFamily="34" charset="0"/>
                <a:ea typeface="Instrument Sans Semi Bold" pitchFamily="34" charset="-122"/>
                <a:cs typeface="Instrument Sans Semi Bold" pitchFamily="34" charset="-120"/>
              </a:rPr>
              <a:t>Thank You</a:t>
            </a:r>
            <a:endParaRPr lang="en-US" sz="2400" dirty="0"/>
          </a:p>
        </p:txBody>
      </p:sp>
      <p:sp>
        <p:nvSpPr>
          <p:cNvPr id="5" name="Text 2"/>
          <p:cNvSpPr/>
          <p:nvPr/>
        </p:nvSpPr>
        <p:spPr>
          <a:xfrm>
            <a:off x="496119" y="1401217"/>
            <a:ext cx="8151763" cy="198462"/>
          </a:xfrm>
          <a:prstGeom prst="rect">
            <a:avLst/>
          </a:prstGeom>
          <a:noFill/>
          <a:ln/>
        </p:spPr>
        <p:txBody>
          <a:bodyPr wrap="none" lIns="0" tIns="0" rIns="0" bIns="0" rtlCol="0" anchor="t"/>
          <a:lstStyle/>
          <a:p>
            <a:pPr marL="0" indent="0" algn="l">
              <a:lnSpc>
                <a:spcPts val="1550"/>
              </a:lnSpc>
              <a:buNone/>
            </a:pPr>
            <a:r>
              <a:rPr lang="en-US" sz="950" i="1" dirty="0">
                <a:solidFill>
                  <a:srgbClr val="1E3063"/>
                </a:solidFill>
                <a:latin typeface="Instrument Sans Medium" pitchFamily="34" charset="0"/>
                <a:ea typeface="Instrument Sans Medium" pitchFamily="34" charset="-122"/>
                <a:cs typeface="Instrument Sans Medium" pitchFamily="34" charset="-120"/>
              </a:rPr>
              <a:t>A Long Walk to Freedom: Nelson Mandela's Legacy</a:t>
            </a:r>
            <a:endParaRPr lang="en-US" sz="950" dirty="0"/>
          </a:p>
        </p:txBody>
      </p:sp>
      <p:sp>
        <p:nvSpPr>
          <p:cNvPr id="6" name="Shape 3"/>
          <p:cNvSpPr/>
          <p:nvPr/>
        </p:nvSpPr>
        <p:spPr>
          <a:xfrm>
            <a:off x="496119" y="1770162"/>
            <a:ext cx="8151763" cy="9302"/>
          </a:xfrm>
          <a:prstGeom prst="rect">
            <a:avLst/>
          </a:prstGeom>
          <a:solidFill>
            <a:srgbClr val="1E3063">
              <a:alpha val="50000"/>
            </a:srgbClr>
          </a:solidFill>
          <a:ln/>
        </p:spPr>
      </p:sp>
      <p:sp>
        <p:nvSpPr>
          <p:cNvPr id="7" name="Text 4"/>
          <p:cNvSpPr/>
          <p:nvPr/>
        </p:nvSpPr>
        <p:spPr>
          <a:xfrm>
            <a:off x="496119" y="1949946"/>
            <a:ext cx="8151763" cy="198462"/>
          </a:xfrm>
          <a:prstGeom prst="rect">
            <a:avLst/>
          </a:prstGeom>
          <a:noFill/>
          <a:ln/>
        </p:spPr>
        <p:txBody>
          <a:bodyPr wrap="none" lIns="0" tIns="0" rIns="0" bIns="0" rtlCol="0" anchor="t"/>
          <a:lstStyle/>
          <a:p>
            <a:pPr marL="0" indent="0" algn="l">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Presented by:</a:t>
            </a:r>
            <a:r>
              <a:rPr lang="en-US" sz="950" dirty="0">
                <a:solidFill>
                  <a:srgbClr val="1E3063"/>
                </a:solidFill>
                <a:latin typeface="Instrument Sans Medium" pitchFamily="34" charset="0"/>
                <a:ea typeface="Instrument Sans Medium" pitchFamily="34" charset="-122"/>
                <a:cs typeface="Instrument Sans Medium" pitchFamily="34" charset="-120"/>
              </a:rPr>
              <a:t> Viraj Chavan</a:t>
            </a:r>
            <a:endParaRPr lang="en-US" sz="950" dirty="0"/>
          </a:p>
        </p:txBody>
      </p:sp>
      <p:sp>
        <p:nvSpPr>
          <p:cNvPr id="8" name="Text 5"/>
          <p:cNvSpPr/>
          <p:nvPr/>
        </p:nvSpPr>
        <p:spPr>
          <a:xfrm>
            <a:off x="496119" y="2287935"/>
            <a:ext cx="8151763" cy="198462"/>
          </a:xfrm>
          <a:prstGeom prst="rect">
            <a:avLst/>
          </a:prstGeom>
          <a:noFill/>
          <a:ln/>
        </p:spPr>
        <p:txBody>
          <a:bodyPr wrap="none" lIns="0" tIns="0" rIns="0" bIns="0" rtlCol="0" anchor="t"/>
          <a:lstStyle/>
          <a:p>
            <a:pPr marL="0" indent="0" algn="l">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Class:</a:t>
            </a:r>
            <a:r>
              <a:rPr lang="en-US" sz="950" dirty="0">
                <a:solidFill>
                  <a:srgbClr val="1E3063"/>
                </a:solidFill>
                <a:latin typeface="Instrument Sans Medium" pitchFamily="34" charset="0"/>
                <a:ea typeface="Instrument Sans Medium" pitchFamily="34" charset="-122"/>
                <a:cs typeface="Instrument Sans Medium" pitchFamily="34" charset="-120"/>
              </a:rPr>
              <a:t> 10B</a:t>
            </a:r>
            <a:endParaRPr lang="en-US" sz="950" dirty="0"/>
          </a:p>
        </p:txBody>
      </p:sp>
      <p:sp>
        <p:nvSpPr>
          <p:cNvPr id="9" name="Text 6"/>
          <p:cNvSpPr/>
          <p:nvPr/>
        </p:nvSpPr>
        <p:spPr>
          <a:xfrm>
            <a:off x="496119" y="2625923"/>
            <a:ext cx="8151763" cy="198462"/>
          </a:xfrm>
          <a:prstGeom prst="rect">
            <a:avLst/>
          </a:prstGeom>
          <a:noFill/>
          <a:ln/>
        </p:spPr>
        <p:txBody>
          <a:bodyPr wrap="none" lIns="0" tIns="0" rIns="0" bIns="0" rtlCol="0" anchor="t"/>
          <a:lstStyle/>
          <a:p>
            <a:pPr marL="0" indent="0" algn="l">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Subject:</a:t>
            </a:r>
            <a:r>
              <a:rPr lang="en-US" sz="950" dirty="0">
                <a:solidFill>
                  <a:srgbClr val="1E3063"/>
                </a:solidFill>
                <a:latin typeface="Instrument Sans Medium" pitchFamily="34" charset="0"/>
                <a:ea typeface="Instrument Sans Medium" pitchFamily="34" charset="-122"/>
                <a:cs typeface="Instrument Sans Medium" pitchFamily="34" charset="-120"/>
              </a:rPr>
              <a:t> English</a:t>
            </a:r>
            <a:endParaRPr lang="en-US" sz="950" dirty="0"/>
          </a:p>
        </p:txBody>
      </p:sp>
      <p:sp>
        <p:nvSpPr>
          <p:cNvPr id="10" name="Text 7"/>
          <p:cNvSpPr/>
          <p:nvPr/>
        </p:nvSpPr>
        <p:spPr>
          <a:xfrm>
            <a:off x="496119" y="2963912"/>
            <a:ext cx="8151763" cy="198462"/>
          </a:xfrm>
          <a:prstGeom prst="rect">
            <a:avLst/>
          </a:prstGeom>
          <a:noFill/>
          <a:ln/>
        </p:spPr>
        <p:txBody>
          <a:bodyPr wrap="none" lIns="0" tIns="0" rIns="0" bIns="0" rtlCol="0" anchor="t"/>
          <a:lstStyle/>
          <a:p>
            <a:pPr marL="0" indent="0" algn="l">
              <a:lnSpc>
                <a:spcPts val="1550"/>
              </a:lnSpc>
              <a:buNone/>
            </a:pPr>
            <a:r>
              <a:rPr lang="en-US" sz="950" b="1" dirty="0">
                <a:solidFill>
                  <a:srgbClr val="1E3063"/>
                </a:solidFill>
                <a:latin typeface="Instrument Sans Medium" pitchFamily="34" charset="0"/>
                <a:ea typeface="Instrument Sans Medium" pitchFamily="34" charset="-122"/>
                <a:cs typeface="Instrument Sans Medium" pitchFamily="34" charset="-120"/>
              </a:rPr>
              <a:t>Class Teacher:</a:t>
            </a:r>
            <a:r>
              <a:rPr lang="en-US" sz="950" dirty="0">
                <a:solidFill>
                  <a:srgbClr val="1E3063"/>
                </a:solidFill>
                <a:latin typeface="Instrument Sans Medium" pitchFamily="34" charset="0"/>
                <a:ea typeface="Instrument Sans Medium" pitchFamily="34" charset="-122"/>
                <a:cs typeface="Instrument Sans Medium" pitchFamily="34" charset="-120"/>
              </a:rPr>
              <a:t> Aboli Mam</a:t>
            </a:r>
            <a:endParaRPr lang="en-US" sz="950" dirty="0"/>
          </a:p>
        </p:txBody>
      </p:sp>
      <p:sp>
        <p:nvSpPr>
          <p:cNvPr id="11" name="Text 8"/>
          <p:cNvSpPr/>
          <p:nvPr/>
        </p:nvSpPr>
        <p:spPr>
          <a:xfrm>
            <a:off x="682154" y="3441427"/>
            <a:ext cx="7965728" cy="396925"/>
          </a:xfrm>
          <a:prstGeom prst="rect">
            <a:avLst/>
          </a:prstGeom>
          <a:noFill/>
          <a:ln/>
        </p:spPr>
        <p:txBody>
          <a:bodyPr wrap="square" lIns="0" tIns="0" rIns="0" bIns="0" rtlCol="0" anchor="t"/>
          <a:lstStyle/>
          <a:p>
            <a:pPr marL="0" indent="0" algn="l">
              <a:lnSpc>
                <a:spcPts val="1550"/>
              </a:lnSpc>
              <a:buNone/>
            </a:pPr>
            <a:r>
              <a:rPr lang="en-US" sz="950" dirty="0">
                <a:solidFill>
                  <a:srgbClr val="1E3063"/>
                </a:solidFill>
                <a:latin typeface="Instrument Sans Medium" pitchFamily="34" charset="0"/>
                <a:ea typeface="Instrument Sans Medium" pitchFamily="34" charset="-122"/>
                <a:cs typeface="Instrument Sans Medium" pitchFamily="34" charset="-120"/>
              </a:rPr>
              <a:t>Through studying Mandela's life and legacy, we learn that one person's courage and conviction can transform a nation. His journey reminds us that freedom is not just a destination, but a continuous commitment to justice, equality, and human dignity.</a:t>
            </a:r>
            <a:endParaRPr lang="en-US" sz="950" dirty="0"/>
          </a:p>
        </p:txBody>
      </p:sp>
      <p:sp>
        <p:nvSpPr>
          <p:cNvPr id="12" name="Shape 9"/>
          <p:cNvSpPr/>
          <p:nvPr/>
        </p:nvSpPr>
        <p:spPr>
          <a:xfrm>
            <a:off x="496119" y="3301901"/>
            <a:ext cx="14288" cy="675977"/>
          </a:xfrm>
          <a:prstGeom prst="rect">
            <a:avLst/>
          </a:prstGeom>
          <a:solidFill>
            <a:srgbClr val="84C1FA"/>
          </a:solidFill>
          <a:ln/>
        </p:spPr>
      </p:sp>
      <p:sp>
        <p:nvSpPr>
          <p:cNvPr id="13" name="Text 10"/>
          <p:cNvSpPr/>
          <p:nvPr/>
        </p:nvSpPr>
        <p:spPr>
          <a:xfrm>
            <a:off x="496119" y="4117404"/>
            <a:ext cx="8151763" cy="198462"/>
          </a:xfrm>
          <a:prstGeom prst="rect">
            <a:avLst/>
          </a:prstGeom>
          <a:noFill/>
          <a:ln/>
        </p:spPr>
        <p:txBody>
          <a:bodyPr wrap="none" lIns="0" tIns="0" rIns="0" bIns="0" rtlCol="0" anchor="t"/>
          <a:lstStyle/>
          <a:p>
            <a:pPr marL="0" indent="0" algn="l">
              <a:lnSpc>
                <a:spcPts val="1550"/>
              </a:lnSpc>
              <a:buNone/>
            </a:pPr>
            <a:r>
              <a:rPr lang="en-US" sz="950" i="1" dirty="0">
                <a:solidFill>
                  <a:srgbClr val="1E3063"/>
                </a:solidFill>
                <a:latin typeface="Instrument Sans Medium" pitchFamily="34" charset="0"/>
                <a:ea typeface="Instrument Sans Medium" pitchFamily="34" charset="-122"/>
                <a:cs typeface="Instrument Sans Medium" pitchFamily="34" charset="-120"/>
              </a:rPr>
              <a:t>"May we all find the strength to walk our own long walk to freedom." — Inspired by Nelson Mandela</a:t>
            </a:r>
            <a:endParaRPr lang="en-US" sz="950" dirty="0"/>
          </a:p>
        </p:txBody>
      </p:sp>
      <p:pic>
        <p:nvPicPr>
          <p:cNvPr id="14" name="Picture 13">
            <a:extLst>
              <a:ext uri="{FF2B5EF4-FFF2-40B4-BE49-F238E27FC236}">
                <a16:creationId xmlns:a16="http://schemas.microsoft.com/office/drawing/2014/main" id="{B829C1EE-652F-CEFE-4C3C-C55504B766A2}"/>
              </a:ext>
            </a:extLst>
          </p:cNvPr>
          <p:cNvPicPr>
            <a:picLocks noChangeAspect="1"/>
          </p:cNvPicPr>
          <p:nvPr/>
        </p:nvPicPr>
        <p:blipFill>
          <a:blip r:embed="rId4"/>
          <a:stretch>
            <a:fillRect/>
          </a:stretch>
        </p:blipFill>
        <p:spPr>
          <a:xfrm>
            <a:off x="7934631" y="4861066"/>
            <a:ext cx="1159105" cy="25533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1908</Words>
  <Application>Microsoft Office PowerPoint</Application>
  <PresentationFormat>On-screen Show (16:9)</PresentationFormat>
  <Paragraphs>170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Instrument Sans Semi Bold</vt:lpstr>
      <vt:lpstr>Instrument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Viraj Chavan</cp:lastModifiedBy>
  <cp:revision>2</cp:revision>
  <dcterms:created xsi:type="dcterms:W3CDTF">2026-05-05T07:33:04Z</dcterms:created>
  <dcterms:modified xsi:type="dcterms:W3CDTF">2026-05-05T07:35:47Z</dcterms:modified>
</cp:coreProperties>
</file>